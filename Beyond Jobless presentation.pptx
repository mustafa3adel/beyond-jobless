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odoni FLF" charset="1" panose="02000606090000020003"/>
      <p:regular r:id="rId20"/>
    </p:embeddedFont>
    <p:embeddedFont>
      <p:font typeface="Montserrat" charset="1" panose="00000500000000000000"/>
      <p:regular r:id="rId21"/>
    </p:embeddedFont>
    <p:embeddedFont>
      <p:font typeface="Anton" charset="1" panose="00000500000000000000"/>
      <p:regular r:id="rId22"/>
    </p:embeddedFont>
    <p:embeddedFont>
      <p:font typeface="Raleway Italics" charset="1" panose="00000000000000000000"/>
      <p:regular r:id="rId23"/>
    </p:embeddedFont>
    <p:embeddedFont>
      <p:font typeface="Clear Sans" charset="1" panose="020B0503030202020304"/>
      <p:regular r:id="rId24"/>
    </p:embeddedFont>
    <p:embeddedFont>
      <p:font typeface="Agrandir" charset="1" panose="00000500000000000000"/>
      <p:regular r:id="rId25"/>
    </p:embeddedFont>
    <p:embeddedFont>
      <p:font typeface="Raleway" charset="1" panose="00000000000000000000"/>
      <p:regular r:id="rId26"/>
    </p:embeddedFont>
    <p:embeddedFont>
      <p:font typeface="Raleway Bold" charset="1" panose="00000000000000000000"/>
      <p:regular r:id="rId27"/>
    </p:embeddedFont>
    <p:embeddedFont>
      <p:font typeface="Canva Sans" charset="1" panose="020B0503030501040103"/>
      <p:regular r:id="rId28"/>
    </p:embeddedFont>
    <p:embeddedFont>
      <p:font typeface="Tex Gyre Termes" charset="1" panose="00000500000000000000"/>
      <p:regular r:id="rId29"/>
    </p:embeddedFont>
    <p:embeddedFont>
      <p:font typeface="TT Drugs Bold" charset="1" panose="02000803060000020003"/>
      <p:regular r:id="rId30"/>
    </p:embeddedFont>
    <p:embeddedFont>
      <p:font typeface="TT Drugs" charset="1" panose="020005030600000200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 Id="rId6" Target="../media/image13.jpeg" Type="http://schemas.openxmlformats.org/officeDocument/2006/relationships/image"/><Relationship Id="rId7" Target="../media/image14.jpeg" Type="http://schemas.openxmlformats.org/officeDocument/2006/relationships/image"/><Relationship Id="rId8" Target="../media/image1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8.png" Type="http://schemas.openxmlformats.org/officeDocument/2006/relationships/image"/><Relationship Id="rId4"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5.pn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8.png" Type="http://schemas.openxmlformats.org/officeDocument/2006/relationships/image"/><Relationship Id="rId4"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6.jpeg" Type="http://schemas.openxmlformats.org/officeDocument/2006/relationships/image"/><Relationship Id="rId3" Target="../media/image18.png" Type="http://schemas.openxmlformats.org/officeDocument/2006/relationships/image"/><Relationship Id="rId4" Target="../media/image27.png" Type="http://schemas.openxmlformats.org/officeDocument/2006/relationships/image"/><Relationship Id="rId5" Target="https://www.bls.gov/cps/" TargetMode="External" Type="http://schemas.openxmlformats.org/officeDocument/2006/relationships/hyperlink"/><Relationship Id="rId6" Target="https://www.bls.gov/cps/" TargetMode="External" Type="http://schemas.openxmlformats.org/officeDocument/2006/relationships/hyperlink"/><Relationship Id="rId7" Target="https://data.worldbank.org/country/united-states" TargetMode="External" Type="http://schemas.openxmlformats.org/officeDocument/2006/relationships/hyperlink"/><Relationship Id="rId8" Target="https://data.worldbank.org/country/united-states" TargetMode="External" Type="http://schemas.openxmlformats.org/officeDocument/2006/relationships/hyperlink"/><Relationship Id="rId9"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31.png" Type="http://schemas.openxmlformats.org/officeDocument/2006/relationships/image"/><Relationship Id="rId4"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grpSp>
        <p:nvGrpSpPr>
          <p:cNvPr name="Group 3" id="3"/>
          <p:cNvGrpSpPr/>
          <p:nvPr/>
        </p:nvGrpSpPr>
        <p:grpSpPr>
          <a:xfrm rot="3633776">
            <a:off x="-5120147" y="-8554630"/>
            <a:ext cx="24027450" cy="21350922"/>
            <a:chOff x="0" y="0"/>
            <a:chExt cx="812800" cy="722258"/>
          </a:xfrm>
        </p:grpSpPr>
        <p:sp>
          <p:nvSpPr>
            <p:cNvPr name="Freeform 4" id="4"/>
            <p:cNvSpPr/>
            <p:nvPr/>
          </p:nvSpPr>
          <p:spPr>
            <a:xfrm flipH="false" flipV="false" rot="0">
              <a:off x="0" y="0"/>
              <a:ext cx="812800" cy="722258"/>
            </a:xfrm>
            <a:custGeom>
              <a:avLst/>
              <a:gdLst/>
              <a:ahLst/>
              <a:cxnLst/>
              <a:rect r="r" b="b" t="t" l="l"/>
              <a:pathLst>
                <a:path h="722258" w="812800">
                  <a:moveTo>
                    <a:pt x="406400" y="0"/>
                  </a:moveTo>
                  <a:lnTo>
                    <a:pt x="812800" y="722258"/>
                  </a:lnTo>
                  <a:lnTo>
                    <a:pt x="0" y="722258"/>
                  </a:lnTo>
                  <a:lnTo>
                    <a:pt x="406400" y="0"/>
                  </a:lnTo>
                  <a:close/>
                </a:path>
              </a:pathLst>
            </a:custGeom>
            <a:solidFill>
              <a:srgbClr val="943F8A"/>
            </a:solidFill>
          </p:spPr>
        </p:sp>
        <p:sp>
          <p:nvSpPr>
            <p:cNvPr name="TextBox 5" id="5"/>
            <p:cNvSpPr txBox="true"/>
            <p:nvPr/>
          </p:nvSpPr>
          <p:spPr>
            <a:xfrm>
              <a:off x="127000" y="411534"/>
              <a:ext cx="558800" cy="259134"/>
            </a:xfrm>
            <a:prstGeom prst="rect">
              <a:avLst/>
            </a:prstGeom>
          </p:spPr>
          <p:txBody>
            <a:bodyPr anchor="ctr" rtlCol="false" tIns="50800" lIns="50800" bIns="50800" rIns="50800"/>
            <a:lstStyle/>
            <a:p>
              <a:pPr algn="ctr">
                <a:lnSpc>
                  <a:spcPts val="2249"/>
                </a:lnSpc>
              </a:pPr>
            </a:p>
          </p:txBody>
        </p:sp>
      </p:grpSp>
      <p:sp>
        <p:nvSpPr>
          <p:cNvPr name="Freeform 6" id="6"/>
          <p:cNvSpPr/>
          <p:nvPr/>
        </p:nvSpPr>
        <p:spPr>
          <a:xfrm flipH="false" flipV="false" rot="0">
            <a:off x="9517944" y="4268318"/>
            <a:ext cx="8610695" cy="5300744"/>
          </a:xfrm>
          <a:custGeom>
            <a:avLst/>
            <a:gdLst/>
            <a:ahLst/>
            <a:cxnLst/>
            <a:rect r="r" b="b" t="t" l="l"/>
            <a:pathLst>
              <a:path h="5300744" w="8610695">
                <a:moveTo>
                  <a:pt x="0" y="0"/>
                </a:moveTo>
                <a:lnTo>
                  <a:pt x="8610695" y="0"/>
                </a:lnTo>
                <a:lnTo>
                  <a:pt x="8610695" y="5300744"/>
                </a:lnTo>
                <a:lnTo>
                  <a:pt x="0" y="53007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144000" y="4196734"/>
            <a:ext cx="8640687" cy="5372328"/>
          </a:xfrm>
          <a:custGeom>
            <a:avLst/>
            <a:gdLst/>
            <a:ahLst/>
            <a:cxnLst/>
            <a:rect r="r" b="b" t="t" l="l"/>
            <a:pathLst>
              <a:path h="5372328" w="8640687">
                <a:moveTo>
                  <a:pt x="0" y="0"/>
                </a:moveTo>
                <a:lnTo>
                  <a:pt x="8640687" y="0"/>
                </a:lnTo>
                <a:lnTo>
                  <a:pt x="8640687" y="5372328"/>
                </a:lnTo>
                <a:lnTo>
                  <a:pt x="0" y="53723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1025430"/>
            <a:ext cx="10089883" cy="4333854"/>
          </a:xfrm>
          <a:prstGeom prst="rect">
            <a:avLst/>
          </a:prstGeom>
        </p:spPr>
        <p:txBody>
          <a:bodyPr anchor="t" rtlCol="false" tIns="0" lIns="0" bIns="0" rIns="0">
            <a:spAutoFit/>
          </a:bodyPr>
          <a:lstStyle/>
          <a:p>
            <a:pPr algn="l">
              <a:lnSpc>
                <a:spcPts val="8249"/>
              </a:lnSpc>
            </a:pPr>
            <a:r>
              <a:rPr lang="en-US" b="true" sz="9374" spc="-374">
                <a:solidFill>
                  <a:srgbClr val="FFFFFF"/>
                </a:solidFill>
                <a:latin typeface="Bodoni FLF"/>
                <a:ea typeface="Bodoni FLF"/>
                <a:cs typeface="Bodoni FLF"/>
                <a:sym typeface="Bodoni FLF"/>
              </a:rPr>
              <a:t>Data-Driven Insights on U.S. Labor Market &amp; Unemployment Trends</a:t>
            </a:r>
          </a:p>
        </p:txBody>
      </p:sp>
      <p:sp>
        <p:nvSpPr>
          <p:cNvPr name="TextBox 9" id="9"/>
          <p:cNvSpPr txBox="true"/>
          <p:nvPr/>
        </p:nvSpPr>
        <p:spPr>
          <a:xfrm rot="0">
            <a:off x="1028700" y="6508800"/>
            <a:ext cx="7996991" cy="710096"/>
          </a:xfrm>
          <a:prstGeom prst="rect">
            <a:avLst/>
          </a:prstGeom>
        </p:spPr>
        <p:txBody>
          <a:bodyPr anchor="t" rtlCol="false" tIns="0" lIns="0" bIns="0" rIns="0">
            <a:spAutoFit/>
          </a:bodyPr>
          <a:lstStyle/>
          <a:p>
            <a:pPr algn="l">
              <a:lnSpc>
                <a:spcPts val="2860"/>
              </a:lnSpc>
            </a:pPr>
            <a:r>
              <a:rPr lang="en-US" sz="2043" spc="40">
                <a:solidFill>
                  <a:srgbClr val="FFFFFF"/>
                </a:solidFill>
                <a:latin typeface="Montserrat"/>
                <a:ea typeface="Montserrat"/>
                <a:cs typeface="Montserrat"/>
                <a:sym typeface="Montserrat"/>
              </a:rPr>
              <a:t>An in-depth exploration of workforce trends, employment shifts, and state-level unemployment insights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1028700" y="744086"/>
            <a:ext cx="7233821" cy="4637288"/>
          </a:xfrm>
          <a:prstGeom prst="rect">
            <a:avLst/>
          </a:prstGeom>
        </p:spPr>
        <p:txBody>
          <a:bodyPr anchor="t" rtlCol="false" tIns="0" lIns="0" bIns="0" rIns="0">
            <a:spAutoFit/>
          </a:bodyPr>
          <a:lstStyle/>
          <a:p>
            <a:pPr algn="l">
              <a:lnSpc>
                <a:spcPts val="11847"/>
              </a:lnSpc>
            </a:pPr>
            <a:r>
              <a:rPr lang="en-US" sz="13463">
                <a:solidFill>
                  <a:srgbClr val="FFFFFF"/>
                </a:solidFill>
                <a:latin typeface="Anton"/>
                <a:ea typeface="Anton"/>
                <a:cs typeface="Anton"/>
                <a:sym typeface="Anton"/>
              </a:rPr>
              <a:t>MEAT OUR TEAM MEMBERS </a:t>
            </a:r>
          </a:p>
        </p:txBody>
      </p:sp>
      <p:sp>
        <p:nvSpPr>
          <p:cNvPr name="TextBox 4" id="4"/>
          <p:cNvSpPr txBox="true"/>
          <p:nvPr/>
        </p:nvSpPr>
        <p:spPr>
          <a:xfrm rot="0">
            <a:off x="4844391" y="2576922"/>
            <a:ext cx="13591942" cy="476317"/>
          </a:xfrm>
          <a:prstGeom prst="rect">
            <a:avLst/>
          </a:prstGeom>
        </p:spPr>
        <p:txBody>
          <a:bodyPr anchor="t" rtlCol="false" tIns="0" lIns="0" bIns="0" rIns="0">
            <a:spAutoFit/>
          </a:bodyPr>
          <a:lstStyle/>
          <a:p>
            <a:pPr algn="l">
              <a:lnSpc>
                <a:spcPts val="3961"/>
              </a:lnSpc>
            </a:pPr>
            <a:r>
              <a:rPr lang="en-US" sz="2676" i="true" spc="1442">
                <a:solidFill>
                  <a:srgbClr val="FFFFFF"/>
                </a:solidFill>
                <a:latin typeface="Raleway Italics"/>
                <a:ea typeface="Raleway Italics"/>
                <a:cs typeface="Raleway Italics"/>
                <a:sym typeface="Raleway Italics"/>
              </a:rPr>
              <a:t>ONE TEAM. ONE VISION. ONE DASHBOARD</a:t>
            </a:r>
          </a:p>
        </p:txBody>
      </p:sp>
      <p:sp>
        <p:nvSpPr>
          <p:cNvPr name="Freeform 5" id="5"/>
          <p:cNvSpPr/>
          <p:nvPr/>
        </p:nvSpPr>
        <p:spPr>
          <a:xfrm flipH="false" flipV="false" rot="0">
            <a:off x="13777591" y="1971822"/>
            <a:ext cx="10179416" cy="10521360"/>
          </a:xfrm>
          <a:custGeom>
            <a:avLst/>
            <a:gdLst/>
            <a:ahLst/>
            <a:cxnLst/>
            <a:rect r="r" b="b" t="t" l="l"/>
            <a:pathLst>
              <a:path h="10521360" w="10179416">
                <a:moveTo>
                  <a:pt x="0" y="0"/>
                </a:moveTo>
                <a:lnTo>
                  <a:pt x="10179416" y="0"/>
                </a:lnTo>
                <a:lnTo>
                  <a:pt x="10179416" y="10521360"/>
                </a:lnTo>
                <a:lnTo>
                  <a:pt x="0" y="10521360"/>
                </a:lnTo>
                <a:lnTo>
                  <a:pt x="0" y="0"/>
                </a:lnTo>
                <a:close/>
              </a:path>
            </a:pathLst>
          </a:custGeom>
          <a:blipFill>
            <a:blip r:embed="rId3"/>
            <a:stretch>
              <a:fillRect l="0" t="0" r="0" b="0"/>
            </a:stretch>
          </a:blipFill>
        </p:spPr>
      </p:sp>
      <p:sp>
        <p:nvSpPr>
          <p:cNvPr name="TextBox 6" id="6"/>
          <p:cNvSpPr txBox="true"/>
          <p:nvPr/>
        </p:nvSpPr>
        <p:spPr>
          <a:xfrm rot="0">
            <a:off x="1609487" y="6733333"/>
            <a:ext cx="5308728" cy="1972920"/>
          </a:xfrm>
          <a:prstGeom prst="rect">
            <a:avLst/>
          </a:prstGeom>
        </p:spPr>
        <p:txBody>
          <a:bodyPr anchor="t" rtlCol="false" tIns="0" lIns="0" bIns="0" rIns="0">
            <a:spAutoFit/>
          </a:bodyPr>
          <a:lstStyle/>
          <a:p>
            <a:pPr algn="ctr">
              <a:lnSpc>
                <a:spcPts val="2418"/>
              </a:lnSpc>
            </a:pPr>
            <a:r>
              <a:rPr lang="en-US" sz="2748">
                <a:solidFill>
                  <a:srgbClr val="FFFFFF"/>
                </a:solidFill>
                <a:latin typeface="Clear Sans"/>
                <a:ea typeface="Clear Sans"/>
                <a:cs typeface="Clear Sans"/>
                <a:sym typeface="Clear Sans"/>
              </a:rPr>
              <a:t>Each member brought a unique st</a:t>
            </a:r>
            <a:r>
              <a:rPr lang="en-US" sz="2748">
                <a:solidFill>
                  <a:srgbClr val="FFFFFF"/>
                </a:solidFill>
                <a:latin typeface="Clear Sans"/>
                <a:ea typeface="Clear Sans"/>
                <a:cs typeface="Clear Sans"/>
                <a:sym typeface="Clear Sans"/>
              </a:rPr>
              <a:t>rength, and together we built a powerful analytical story behind the numbers.</a:t>
            </a:r>
          </a:p>
          <a:p>
            <a:pPr algn="ctr">
              <a:lnSpc>
                <a:spcPts val="2021"/>
              </a:lnSpc>
            </a:pPr>
          </a:p>
          <a:p>
            <a:pPr algn="ctr">
              <a:lnSpc>
                <a:spcPts val="2021"/>
              </a:lnSpc>
            </a:pPr>
          </a:p>
          <a:p>
            <a:pPr algn="ctr">
              <a:lnSpc>
                <a:spcPts val="2021"/>
              </a:lnSpc>
            </a:pPr>
          </a:p>
        </p:txBody>
      </p:sp>
      <p:sp>
        <p:nvSpPr>
          <p:cNvPr name="TextBox 7" id="7"/>
          <p:cNvSpPr txBox="true"/>
          <p:nvPr/>
        </p:nvSpPr>
        <p:spPr>
          <a:xfrm rot="0">
            <a:off x="11356325" y="6733333"/>
            <a:ext cx="5902975" cy="2274051"/>
          </a:xfrm>
          <a:prstGeom prst="rect">
            <a:avLst/>
          </a:prstGeom>
        </p:spPr>
        <p:txBody>
          <a:bodyPr anchor="t" rtlCol="false" tIns="0" lIns="0" bIns="0" rIns="0">
            <a:spAutoFit/>
          </a:bodyPr>
          <a:lstStyle/>
          <a:p>
            <a:pPr algn="ctr">
              <a:lnSpc>
                <a:spcPts val="2418"/>
              </a:lnSpc>
            </a:pPr>
            <a:r>
              <a:rPr lang="en-US" sz="2748">
                <a:solidFill>
                  <a:srgbClr val="FFFFFF"/>
                </a:solidFill>
                <a:latin typeface="Clear Sans"/>
                <a:ea typeface="Clear Sans"/>
                <a:cs typeface="Clear Sans"/>
                <a:sym typeface="Clear Sans"/>
              </a:rPr>
              <a:t>United by purpose, we aligned our roles to d</a:t>
            </a:r>
            <a:r>
              <a:rPr lang="en-US" sz="2748">
                <a:solidFill>
                  <a:srgbClr val="FFFFFF"/>
                </a:solidFill>
                <a:latin typeface="Clear Sans"/>
                <a:ea typeface="Clear Sans"/>
                <a:cs typeface="Clear Sans"/>
                <a:sym typeface="Clear Sans"/>
              </a:rPr>
              <a:t>esign a clear, accurate, and impactful visualization of unemployment in the U.S.</a:t>
            </a:r>
          </a:p>
          <a:p>
            <a:pPr algn="ctr">
              <a:lnSpc>
                <a:spcPts val="2418"/>
              </a:lnSpc>
            </a:pPr>
          </a:p>
          <a:p>
            <a:pPr algn="ctr">
              <a:lnSpc>
                <a:spcPts val="2021"/>
              </a:lnSpc>
            </a:pPr>
          </a:p>
          <a:p>
            <a:pPr algn="ctr">
              <a:lnSpc>
                <a:spcPts val="2021"/>
              </a:lnSpc>
            </a:pPr>
          </a:p>
          <a:p>
            <a:pPr algn="ctr">
              <a:lnSpc>
                <a:spcPts val="2021"/>
              </a:lnSpc>
            </a:pPr>
          </a:p>
        </p:txBody>
      </p:sp>
      <p:sp>
        <p:nvSpPr>
          <p:cNvPr name="Freeform 8" id="8"/>
          <p:cNvSpPr/>
          <p:nvPr/>
        </p:nvSpPr>
        <p:spPr>
          <a:xfrm flipH="false" flipV="false" rot="-259721">
            <a:off x="11068423" y="5040377"/>
            <a:ext cx="7139630" cy="4395156"/>
          </a:xfrm>
          <a:custGeom>
            <a:avLst/>
            <a:gdLst/>
            <a:ahLst/>
            <a:cxnLst/>
            <a:rect r="r" b="b" t="t" l="l"/>
            <a:pathLst>
              <a:path h="4395156" w="7139630">
                <a:moveTo>
                  <a:pt x="0" y="0"/>
                </a:moveTo>
                <a:lnTo>
                  <a:pt x="7139629" y="0"/>
                </a:lnTo>
                <a:lnTo>
                  <a:pt x="7139629" y="4395156"/>
                </a:lnTo>
                <a:lnTo>
                  <a:pt x="0" y="43951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grpSp>
        <p:nvGrpSpPr>
          <p:cNvPr name="Group 3" id="3"/>
          <p:cNvGrpSpPr/>
          <p:nvPr/>
        </p:nvGrpSpPr>
        <p:grpSpPr>
          <a:xfrm rot="0">
            <a:off x="367352" y="5308588"/>
            <a:ext cx="3484666" cy="4563991"/>
            <a:chOff x="0" y="0"/>
            <a:chExt cx="890986" cy="1166956"/>
          </a:xfrm>
        </p:grpSpPr>
        <p:sp>
          <p:nvSpPr>
            <p:cNvPr name="Freeform 4" id="4"/>
            <p:cNvSpPr/>
            <p:nvPr/>
          </p:nvSpPr>
          <p:spPr>
            <a:xfrm flipH="false" flipV="false" rot="0">
              <a:off x="0" y="0"/>
              <a:ext cx="890986" cy="1166956"/>
            </a:xfrm>
            <a:custGeom>
              <a:avLst/>
              <a:gdLst/>
              <a:ahLst/>
              <a:cxnLst/>
              <a:rect r="r" b="b" t="t" l="l"/>
              <a:pathLst>
                <a:path h="1166956" w="890986">
                  <a:moveTo>
                    <a:pt x="46656" y="0"/>
                  </a:moveTo>
                  <a:lnTo>
                    <a:pt x="844330" y="0"/>
                  </a:lnTo>
                  <a:cubicBezTo>
                    <a:pt x="870097" y="0"/>
                    <a:pt x="890986" y="20889"/>
                    <a:pt x="890986" y="46656"/>
                  </a:cubicBezTo>
                  <a:lnTo>
                    <a:pt x="890986" y="1120300"/>
                  </a:lnTo>
                  <a:cubicBezTo>
                    <a:pt x="890986" y="1146067"/>
                    <a:pt x="870097" y="1166956"/>
                    <a:pt x="844330" y="1166956"/>
                  </a:cubicBezTo>
                  <a:lnTo>
                    <a:pt x="46656" y="1166956"/>
                  </a:lnTo>
                  <a:cubicBezTo>
                    <a:pt x="20889" y="1166956"/>
                    <a:pt x="0" y="1146067"/>
                    <a:pt x="0" y="1120300"/>
                  </a:cubicBezTo>
                  <a:lnTo>
                    <a:pt x="0" y="46656"/>
                  </a:lnTo>
                  <a:cubicBezTo>
                    <a:pt x="0" y="20889"/>
                    <a:pt x="20889" y="0"/>
                    <a:pt x="46656" y="0"/>
                  </a:cubicBezTo>
                  <a:close/>
                </a:path>
              </a:pathLst>
            </a:custGeom>
            <a:solidFill>
              <a:srgbClr val="463974"/>
            </a:solidFill>
          </p:spPr>
        </p:sp>
        <p:sp>
          <p:nvSpPr>
            <p:cNvPr name="TextBox 5" id="5"/>
            <p:cNvSpPr txBox="true"/>
            <p:nvPr/>
          </p:nvSpPr>
          <p:spPr>
            <a:xfrm>
              <a:off x="0" y="-28575"/>
              <a:ext cx="890986" cy="11955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39616" y="5309553"/>
            <a:ext cx="3484666" cy="4563991"/>
            <a:chOff x="0" y="0"/>
            <a:chExt cx="890986" cy="1166956"/>
          </a:xfrm>
        </p:grpSpPr>
        <p:sp>
          <p:nvSpPr>
            <p:cNvPr name="Freeform 7" id="7"/>
            <p:cNvSpPr/>
            <p:nvPr/>
          </p:nvSpPr>
          <p:spPr>
            <a:xfrm flipH="false" flipV="false" rot="0">
              <a:off x="0" y="0"/>
              <a:ext cx="890986" cy="1166956"/>
            </a:xfrm>
            <a:custGeom>
              <a:avLst/>
              <a:gdLst/>
              <a:ahLst/>
              <a:cxnLst/>
              <a:rect r="r" b="b" t="t" l="l"/>
              <a:pathLst>
                <a:path h="1166956" w="890986">
                  <a:moveTo>
                    <a:pt x="46656" y="0"/>
                  </a:moveTo>
                  <a:lnTo>
                    <a:pt x="844330" y="0"/>
                  </a:lnTo>
                  <a:cubicBezTo>
                    <a:pt x="870097" y="0"/>
                    <a:pt x="890986" y="20889"/>
                    <a:pt x="890986" y="46656"/>
                  </a:cubicBezTo>
                  <a:lnTo>
                    <a:pt x="890986" y="1120300"/>
                  </a:lnTo>
                  <a:cubicBezTo>
                    <a:pt x="890986" y="1146067"/>
                    <a:pt x="870097" y="1166956"/>
                    <a:pt x="844330" y="1166956"/>
                  </a:cubicBezTo>
                  <a:lnTo>
                    <a:pt x="46656" y="1166956"/>
                  </a:lnTo>
                  <a:cubicBezTo>
                    <a:pt x="20889" y="1166956"/>
                    <a:pt x="0" y="1146067"/>
                    <a:pt x="0" y="1120300"/>
                  </a:cubicBezTo>
                  <a:lnTo>
                    <a:pt x="0" y="46656"/>
                  </a:lnTo>
                  <a:cubicBezTo>
                    <a:pt x="0" y="20889"/>
                    <a:pt x="20889" y="0"/>
                    <a:pt x="46656" y="0"/>
                  </a:cubicBezTo>
                  <a:close/>
                </a:path>
              </a:pathLst>
            </a:custGeom>
            <a:solidFill>
              <a:srgbClr val="463974"/>
            </a:solidFill>
          </p:spPr>
        </p:sp>
        <p:sp>
          <p:nvSpPr>
            <p:cNvPr name="TextBox 8" id="8"/>
            <p:cNvSpPr txBox="true"/>
            <p:nvPr/>
          </p:nvSpPr>
          <p:spPr>
            <a:xfrm>
              <a:off x="0" y="-28575"/>
              <a:ext cx="890986" cy="11955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674488" y="5460475"/>
            <a:ext cx="3036124" cy="30361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5899" y="0"/>
                  </a:moveTo>
                  <a:lnTo>
                    <a:pt x="766901" y="0"/>
                  </a:lnTo>
                  <a:cubicBezTo>
                    <a:pt x="792250" y="0"/>
                    <a:pt x="812800" y="20550"/>
                    <a:pt x="812800" y="45899"/>
                  </a:cubicBezTo>
                  <a:lnTo>
                    <a:pt x="812800" y="766901"/>
                  </a:lnTo>
                  <a:cubicBezTo>
                    <a:pt x="812800" y="792250"/>
                    <a:pt x="792250" y="812800"/>
                    <a:pt x="766901" y="812800"/>
                  </a:cubicBezTo>
                  <a:lnTo>
                    <a:pt x="45899" y="812800"/>
                  </a:lnTo>
                  <a:cubicBezTo>
                    <a:pt x="20550" y="812800"/>
                    <a:pt x="0" y="792250"/>
                    <a:pt x="0" y="766901"/>
                  </a:cubicBezTo>
                  <a:lnTo>
                    <a:pt x="0" y="45899"/>
                  </a:lnTo>
                  <a:cubicBezTo>
                    <a:pt x="0" y="20550"/>
                    <a:pt x="20550" y="0"/>
                    <a:pt x="45899" y="0"/>
                  </a:cubicBezTo>
                  <a:close/>
                </a:path>
              </a:pathLst>
            </a:custGeom>
            <a:blipFill>
              <a:blip r:embed="rId3"/>
              <a:stretch>
                <a:fillRect l="-60853" t="-35858" r="-6017" b="-86906"/>
              </a:stretch>
            </a:blipFill>
          </p:spPr>
        </p:sp>
      </p:grpSp>
      <p:grpSp>
        <p:nvGrpSpPr>
          <p:cNvPr name="Group 11" id="11"/>
          <p:cNvGrpSpPr/>
          <p:nvPr/>
        </p:nvGrpSpPr>
        <p:grpSpPr>
          <a:xfrm rot="0">
            <a:off x="597883" y="5460475"/>
            <a:ext cx="3036124" cy="3036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5899" y="0"/>
                  </a:moveTo>
                  <a:lnTo>
                    <a:pt x="766901" y="0"/>
                  </a:lnTo>
                  <a:cubicBezTo>
                    <a:pt x="792250" y="0"/>
                    <a:pt x="812800" y="20550"/>
                    <a:pt x="812800" y="45899"/>
                  </a:cubicBezTo>
                  <a:lnTo>
                    <a:pt x="812800" y="766901"/>
                  </a:lnTo>
                  <a:cubicBezTo>
                    <a:pt x="812800" y="792250"/>
                    <a:pt x="792250" y="812800"/>
                    <a:pt x="766901" y="812800"/>
                  </a:cubicBezTo>
                  <a:lnTo>
                    <a:pt x="45899" y="812800"/>
                  </a:lnTo>
                  <a:cubicBezTo>
                    <a:pt x="20550" y="812800"/>
                    <a:pt x="0" y="792250"/>
                    <a:pt x="0" y="766901"/>
                  </a:cubicBezTo>
                  <a:lnTo>
                    <a:pt x="0" y="45899"/>
                  </a:lnTo>
                  <a:cubicBezTo>
                    <a:pt x="0" y="20550"/>
                    <a:pt x="20550" y="0"/>
                    <a:pt x="45899" y="0"/>
                  </a:cubicBezTo>
                  <a:close/>
                </a:path>
              </a:pathLst>
            </a:custGeom>
            <a:blipFill>
              <a:blip r:embed="rId4"/>
              <a:stretch>
                <a:fillRect l="-29441" t="-516" r="-24251" b="-53176"/>
              </a:stretch>
            </a:blipFill>
          </p:spPr>
        </p:sp>
      </p:grpSp>
      <p:grpSp>
        <p:nvGrpSpPr>
          <p:cNvPr name="Group 13" id="13"/>
          <p:cNvGrpSpPr/>
          <p:nvPr/>
        </p:nvGrpSpPr>
        <p:grpSpPr>
          <a:xfrm rot="0">
            <a:off x="12392137" y="5424004"/>
            <a:ext cx="3484666" cy="4563991"/>
            <a:chOff x="0" y="0"/>
            <a:chExt cx="890986" cy="1166956"/>
          </a:xfrm>
        </p:grpSpPr>
        <p:sp>
          <p:nvSpPr>
            <p:cNvPr name="Freeform 14" id="14"/>
            <p:cNvSpPr/>
            <p:nvPr/>
          </p:nvSpPr>
          <p:spPr>
            <a:xfrm flipH="false" flipV="false" rot="0">
              <a:off x="0" y="0"/>
              <a:ext cx="890986" cy="1166956"/>
            </a:xfrm>
            <a:custGeom>
              <a:avLst/>
              <a:gdLst/>
              <a:ahLst/>
              <a:cxnLst/>
              <a:rect r="r" b="b" t="t" l="l"/>
              <a:pathLst>
                <a:path h="1166956" w="890986">
                  <a:moveTo>
                    <a:pt x="46656" y="0"/>
                  </a:moveTo>
                  <a:lnTo>
                    <a:pt x="844330" y="0"/>
                  </a:lnTo>
                  <a:cubicBezTo>
                    <a:pt x="870097" y="0"/>
                    <a:pt x="890986" y="20889"/>
                    <a:pt x="890986" y="46656"/>
                  </a:cubicBezTo>
                  <a:lnTo>
                    <a:pt x="890986" y="1120300"/>
                  </a:lnTo>
                  <a:cubicBezTo>
                    <a:pt x="890986" y="1146067"/>
                    <a:pt x="870097" y="1166956"/>
                    <a:pt x="844330" y="1166956"/>
                  </a:cubicBezTo>
                  <a:lnTo>
                    <a:pt x="46656" y="1166956"/>
                  </a:lnTo>
                  <a:cubicBezTo>
                    <a:pt x="20889" y="1166956"/>
                    <a:pt x="0" y="1146067"/>
                    <a:pt x="0" y="1120300"/>
                  </a:cubicBezTo>
                  <a:lnTo>
                    <a:pt x="0" y="46656"/>
                  </a:lnTo>
                  <a:cubicBezTo>
                    <a:pt x="0" y="20889"/>
                    <a:pt x="20889" y="0"/>
                    <a:pt x="46656" y="0"/>
                  </a:cubicBezTo>
                  <a:close/>
                </a:path>
              </a:pathLst>
            </a:custGeom>
            <a:solidFill>
              <a:srgbClr val="463974"/>
            </a:solidFill>
          </p:spPr>
        </p:sp>
        <p:sp>
          <p:nvSpPr>
            <p:cNvPr name="TextBox 15" id="15"/>
            <p:cNvSpPr txBox="true"/>
            <p:nvPr/>
          </p:nvSpPr>
          <p:spPr>
            <a:xfrm>
              <a:off x="0" y="-28575"/>
              <a:ext cx="890986" cy="119553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607294" y="5652100"/>
            <a:ext cx="3036124" cy="30361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5899" y="0"/>
                  </a:moveTo>
                  <a:lnTo>
                    <a:pt x="766901" y="0"/>
                  </a:lnTo>
                  <a:cubicBezTo>
                    <a:pt x="792250" y="0"/>
                    <a:pt x="812800" y="20550"/>
                    <a:pt x="812800" y="45899"/>
                  </a:cubicBezTo>
                  <a:lnTo>
                    <a:pt x="812800" y="766901"/>
                  </a:lnTo>
                  <a:cubicBezTo>
                    <a:pt x="812800" y="792250"/>
                    <a:pt x="792250" y="812800"/>
                    <a:pt x="766901" y="812800"/>
                  </a:cubicBezTo>
                  <a:lnTo>
                    <a:pt x="45899" y="812800"/>
                  </a:lnTo>
                  <a:cubicBezTo>
                    <a:pt x="20550" y="812800"/>
                    <a:pt x="0" y="792250"/>
                    <a:pt x="0" y="766901"/>
                  </a:cubicBezTo>
                  <a:lnTo>
                    <a:pt x="0" y="45899"/>
                  </a:lnTo>
                  <a:cubicBezTo>
                    <a:pt x="0" y="20550"/>
                    <a:pt x="20550" y="0"/>
                    <a:pt x="45899" y="0"/>
                  </a:cubicBezTo>
                  <a:close/>
                </a:path>
              </a:pathLst>
            </a:custGeom>
            <a:blipFill>
              <a:blip r:embed="rId5"/>
              <a:stretch>
                <a:fillRect l="-24275" t="0" r="-18788" b="-81722"/>
              </a:stretch>
            </a:blipFill>
          </p:spPr>
        </p:sp>
      </p:grpSp>
      <p:grpSp>
        <p:nvGrpSpPr>
          <p:cNvPr name="Group 18" id="18"/>
          <p:cNvGrpSpPr/>
          <p:nvPr/>
        </p:nvGrpSpPr>
        <p:grpSpPr>
          <a:xfrm rot="0">
            <a:off x="12358571" y="563791"/>
            <a:ext cx="3484666" cy="4563991"/>
            <a:chOff x="0" y="0"/>
            <a:chExt cx="890986" cy="1166956"/>
          </a:xfrm>
        </p:grpSpPr>
        <p:sp>
          <p:nvSpPr>
            <p:cNvPr name="Freeform 19" id="19"/>
            <p:cNvSpPr/>
            <p:nvPr/>
          </p:nvSpPr>
          <p:spPr>
            <a:xfrm flipH="false" flipV="false" rot="0">
              <a:off x="0" y="0"/>
              <a:ext cx="890986" cy="1166956"/>
            </a:xfrm>
            <a:custGeom>
              <a:avLst/>
              <a:gdLst/>
              <a:ahLst/>
              <a:cxnLst/>
              <a:rect r="r" b="b" t="t" l="l"/>
              <a:pathLst>
                <a:path h="1166956" w="890986">
                  <a:moveTo>
                    <a:pt x="46656" y="0"/>
                  </a:moveTo>
                  <a:lnTo>
                    <a:pt x="844330" y="0"/>
                  </a:lnTo>
                  <a:cubicBezTo>
                    <a:pt x="870097" y="0"/>
                    <a:pt x="890986" y="20889"/>
                    <a:pt x="890986" y="46656"/>
                  </a:cubicBezTo>
                  <a:lnTo>
                    <a:pt x="890986" y="1120300"/>
                  </a:lnTo>
                  <a:cubicBezTo>
                    <a:pt x="890986" y="1146067"/>
                    <a:pt x="870097" y="1166956"/>
                    <a:pt x="844330" y="1166956"/>
                  </a:cubicBezTo>
                  <a:lnTo>
                    <a:pt x="46656" y="1166956"/>
                  </a:lnTo>
                  <a:cubicBezTo>
                    <a:pt x="20889" y="1166956"/>
                    <a:pt x="0" y="1146067"/>
                    <a:pt x="0" y="1120300"/>
                  </a:cubicBezTo>
                  <a:lnTo>
                    <a:pt x="0" y="46656"/>
                  </a:lnTo>
                  <a:cubicBezTo>
                    <a:pt x="0" y="20889"/>
                    <a:pt x="20889" y="0"/>
                    <a:pt x="46656" y="0"/>
                  </a:cubicBezTo>
                  <a:close/>
                </a:path>
              </a:pathLst>
            </a:custGeom>
            <a:solidFill>
              <a:srgbClr val="463974"/>
            </a:solidFill>
          </p:spPr>
        </p:sp>
        <p:sp>
          <p:nvSpPr>
            <p:cNvPr name="TextBox 20" id="20"/>
            <p:cNvSpPr txBox="true"/>
            <p:nvPr/>
          </p:nvSpPr>
          <p:spPr>
            <a:xfrm>
              <a:off x="0" y="-28575"/>
              <a:ext cx="890986" cy="119553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582842" y="678261"/>
            <a:ext cx="3036124" cy="303612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5899" y="0"/>
                  </a:moveTo>
                  <a:lnTo>
                    <a:pt x="766901" y="0"/>
                  </a:lnTo>
                  <a:cubicBezTo>
                    <a:pt x="792250" y="0"/>
                    <a:pt x="812800" y="20550"/>
                    <a:pt x="812800" y="45899"/>
                  </a:cubicBezTo>
                  <a:lnTo>
                    <a:pt x="812800" y="766901"/>
                  </a:lnTo>
                  <a:cubicBezTo>
                    <a:pt x="812800" y="792250"/>
                    <a:pt x="792250" y="812800"/>
                    <a:pt x="766901" y="812800"/>
                  </a:cubicBezTo>
                  <a:lnTo>
                    <a:pt x="45899" y="812800"/>
                  </a:lnTo>
                  <a:cubicBezTo>
                    <a:pt x="20550" y="812800"/>
                    <a:pt x="0" y="792250"/>
                    <a:pt x="0" y="766901"/>
                  </a:cubicBezTo>
                  <a:lnTo>
                    <a:pt x="0" y="45899"/>
                  </a:lnTo>
                  <a:cubicBezTo>
                    <a:pt x="0" y="20550"/>
                    <a:pt x="20550" y="0"/>
                    <a:pt x="45899" y="0"/>
                  </a:cubicBezTo>
                  <a:close/>
                </a:path>
              </a:pathLst>
            </a:custGeom>
            <a:blipFill>
              <a:blip r:embed="rId6"/>
              <a:stretch>
                <a:fillRect l="-74716" t="-121330" r="-85841" b="-126079"/>
              </a:stretch>
            </a:blipFill>
          </p:spPr>
        </p:sp>
      </p:grpSp>
      <p:grpSp>
        <p:nvGrpSpPr>
          <p:cNvPr name="Group 23" id="23"/>
          <p:cNvGrpSpPr/>
          <p:nvPr/>
        </p:nvGrpSpPr>
        <p:grpSpPr>
          <a:xfrm rot="0">
            <a:off x="367352" y="449322"/>
            <a:ext cx="3484666" cy="4563991"/>
            <a:chOff x="0" y="0"/>
            <a:chExt cx="890986" cy="1166956"/>
          </a:xfrm>
        </p:grpSpPr>
        <p:sp>
          <p:nvSpPr>
            <p:cNvPr name="Freeform 24" id="24"/>
            <p:cNvSpPr/>
            <p:nvPr/>
          </p:nvSpPr>
          <p:spPr>
            <a:xfrm flipH="false" flipV="false" rot="0">
              <a:off x="0" y="0"/>
              <a:ext cx="890986" cy="1166956"/>
            </a:xfrm>
            <a:custGeom>
              <a:avLst/>
              <a:gdLst/>
              <a:ahLst/>
              <a:cxnLst/>
              <a:rect r="r" b="b" t="t" l="l"/>
              <a:pathLst>
                <a:path h="1166956" w="890986">
                  <a:moveTo>
                    <a:pt x="46656" y="0"/>
                  </a:moveTo>
                  <a:lnTo>
                    <a:pt x="844330" y="0"/>
                  </a:lnTo>
                  <a:cubicBezTo>
                    <a:pt x="870097" y="0"/>
                    <a:pt x="890986" y="20889"/>
                    <a:pt x="890986" y="46656"/>
                  </a:cubicBezTo>
                  <a:lnTo>
                    <a:pt x="890986" y="1120300"/>
                  </a:lnTo>
                  <a:cubicBezTo>
                    <a:pt x="890986" y="1146067"/>
                    <a:pt x="870097" y="1166956"/>
                    <a:pt x="844330" y="1166956"/>
                  </a:cubicBezTo>
                  <a:lnTo>
                    <a:pt x="46656" y="1166956"/>
                  </a:lnTo>
                  <a:cubicBezTo>
                    <a:pt x="20889" y="1166956"/>
                    <a:pt x="0" y="1146067"/>
                    <a:pt x="0" y="1120300"/>
                  </a:cubicBezTo>
                  <a:lnTo>
                    <a:pt x="0" y="46656"/>
                  </a:lnTo>
                  <a:cubicBezTo>
                    <a:pt x="0" y="20889"/>
                    <a:pt x="20889" y="0"/>
                    <a:pt x="46656" y="0"/>
                  </a:cubicBezTo>
                  <a:close/>
                </a:path>
              </a:pathLst>
            </a:custGeom>
            <a:solidFill>
              <a:srgbClr val="463974"/>
            </a:solidFill>
          </p:spPr>
        </p:sp>
        <p:sp>
          <p:nvSpPr>
            <p:cNvPr name="TextBox 25" id="25"/>
            <p:cNvSpPr txBox="true"/>
            <p:nvPr/>
          </p:nvSpPr>
          <p:spPr>
            <a:xfrm>
              <a:off x="0" y="-28575"/>
              <a:ext cx="890986" cy="1195531"/>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6439616" y="449322"/>
            <a:ext cx="3484666" cy="4563991"/>
            <a:chOff x="0" y="0"/>
            <a:chExt cx="890986" cy="1166956"/>
          </a:xfrm>
        </p:grpSpPr>
        <p:sp>
          <p:nvSpPr>
            <p:cNvPr name="Freeform 27" id="27"/>
            <p:cNvSpPr/>
            <p:nvPr/>
          </p:nvSpPr>
          <p:spPr>
            <a:xfrm flipH="false" flipV="false" rot="0">
              <a:off x="0" y="0"/>
              <a:ext cx="890986" cy="1166956"/>
            </a:xfrm>
            <a:custGeom>
              <a:avLst/>
              <a:gdLst/>
              <a:ahLst/>
              <a:cxnLst/>
              <a:rect r="r" b="b" t="t" l="l"/>
              <a:pathLst>
                <a:path h="1166956" w="890986">
                  <a:moveTo>
                    <a:pt x="46656" y="0"/>
                  </a:moveTo>
                  <a:lnTo>
                    <a:pt x="844330" y="0"/>
                  </a:lnTo>
                  <a:cubicBezTo>
                    <a:pt x="870097" y="0"/>
                    <a:pt x="890986" y="20889"/>
                    <a:pt x="890986" y="46656"/>
                  </a:cubicBezTo>
                  <a:lnTo>
                    <a:pt x="890986" y="1120300"/>
                  </a:lnTo>
                  <a:cubicBezTo>
                    <a:pt x="890986" y="1146067"/>
                    <a:pt x="870097" y="1166956"/>
                    <a:pt x="844330" y="1166956"/>
                  </a:cubicBezTo>
                  <a:lnTo>
                    <a:pt x="46656" y="1166956"/>
                  </a:lnTo>
                  <a:cubicBezTo>
                    <a:pt x="20889" y="1166956"/>
                    <a:pt x="0" y="1146067"/>
                    <a:pt x="0" y="1120300"/>
                  </a:cubicBezTo>
                  <a:lnTo>
                    <a:pt x="0" y="46656"/>
                  </a:lnTo>
                  <a:cubicBezTo>
                    <a:pt x="0" y="20889"/>
                    <a:pt x="20889" y="0"/>
                    <a:pt x="46656" y="0"/>
                  </a:cubicBezTo>
                  <a:close/>
                </a:path>
              </a:pathLst>
            </a:custGeom>
            <a:solidFill>
              <a:srgbClr val="463974"/>
            </a:solidFill>
          </p:spPr>
        </p:sp>
        <p:sp>
          <p:nvSpPr>
            <p:cNvPr name="TextBox 28" id="28"/>
            <p:cNvSpPr txBox="true"/>
            <p:nvPr/>
          </p:nvSpPr>
          <p:spPr>
            <a:xfrm>
              <a:off x="0" y="-28575"/>
              <a:ext cx="890986" cy="1195531"/>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597883" y="563791"/>
            <a:ext cx="3036124" cy="303612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5899" y="0"/>
                  </a:moveTo>
                  <a:lnTo>
                    <a:pt x="766901" y="0"/>
                  </a:lnTo>
                  <a:cubicBezTo>
                    <a:pt x="792250" y="0"/>
                    <a:pt x="812800" y="20550"/>
                    <a:pt x="812800" y="45899"/>
                  </a:cubicBezTo>
                  <a:lnTo>
                    <a:pt x="812800" y="766901"/>
                  </a:lnTo>
                  <a:cubicBezTo>
                    <a:pt x="812800" y="792250"/>
                    <a:pt x="792250" y="812800"/>
                    <a:pt x="766901" y="812800"/>
                  </a:cubicBezTo>
                  <a:lnTo>
                    <a:pt x="45899" y="812800"/>
                  </a:lnTo>
                  <a:cubicBezTo>
                    <a:pt x="20550" y="812800"/>
                    <a:pt x="0" y="792250"/>
                    <a:pt x="0" y="766901"/>
                  </a:cubicBezTo>
                  <a:lnTo>
                    <a:pt x="0" y="45899"/>
                  </a:lnTo>
                  <a:cubicBezTo>
                    <a:pt x="0" y="20550"/>
                    <a:pt x="20550" y="0"/>
                    <a:pt x="45899" y="0"/>
                  </a:cubicBezTo>
                  <a:close/>
                </a:path>
              </a:pathLst>
            </a:custGeom>
            <a:blipFill>
              <a:blip r:embed="rId7"/>
              <a:stretch>
                <a:fillRect l="-28408" t="-18852" r="-24130" b="-152655"/>
              </a:stretch>
            </a:blipFill>
          </p:spPr>
        </p:sp>
      </p:grpSp>
      <p:grpSp>
        <p:nvGrpSpPr>
          <p:cNvPr name="Group 31" id="31"/>
          <p:cNvGrpSpPr/>
          <p:nvPr/>
        </p:nvGrpSpPr>
        <p:grpSpPr>
          <a:xfrm rot="0">
            <a:off x="6674488" y="563791"/>
            <a:ext cx="3036124" cy="303612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5899" y="0"/>
                  </a:moveTo>
                  <a:lnTo>
                    <a:pt x="766901" y="0"/>
                  </a:lnTo>
                  <a:cubicBezTo>
                    <a:pt x="792250" y="0"/>
                    <a:pt x="812800" y="20550"/>
                    <a:pt x="812800" y="45899"/>
                  </a:cubicBezTo>
                  <a:lnTo>
                    <a:pt x="812800" y="766901"/>
                  </a:lnTo>
                  <a:cubicBezTo>
                    <a:pt x="812800" y="792250"/>
                    <a:pt x="792250" y="812800"/>
                    <a:pt x="766901" y="812800"/>
                  </a:cubicBezTo>
                  <a:lnTo>
                    <a:pt x="45899" y="812800"/>
                  </a:lnTo>
                  <a:cubicBezTo>
                    <a:pt x="20550" y="812800"/>
                    <a:pt x="0" y="792250"/>
                    <a:pt x="0" y="766901"/>
                  </a:cubicBezTo>
                  <a:lnTo>
                    <a:pt x="0" y="45899"/>
                  </a:lnTo>
                  <a:cubicBezTo>
                    <a:pt x="0" y="20550"/>
                    <a:pt x="20550" y="0"/>
                    <a:pt x="45899" y="0"/>
                  </a:cubicBezTo>
                  <a:close/>
                </a:path>
              </a:pathLst>
            </a:custGeom>
            <a:blipFill>
              <a:blip r:embed="rId8"/>
              <a:stretch>
                <a:fillRect l="-90905" t="-88461" r="-59629" b="-145584"/>
              </a:stretch>
            </a:blipFill>
          </p:spPr>
        </p:sp>
      </p:grpSp>
      <p:sp>
        <p:nvSpPr>
          <p:cNvPr name="TextBox 33" id="33"/>
          <p:cNvSpPr txBox="true"/>
          <p:nvPr/>
        </p:nvSpPr>
        <p:spPr>
          <a:xfrm rot="0">
            <a:off x="582509" y="8880061"/>
            <a:ext cx="3036124" cy="327156"/>
          </a:xfrm>
          <a:prstGeom prst="rect">
            <a:avLst/>
          </a:prstGeom>
        </p:spPr>
        <p:txBody>
          <a:bodyPr anchor="t" rtlCol="false" tIns="0" lIns="0" bIns="0" rIns="0">
            <a:spAutoFit/>
          </a:bodyPr>
          <a:lstStyle/>
          <a:p>
            <a:pPr algn="ctr">
              <a:lnSpc>
                <a:spcPts val="2340"/>
              </a:lnSpc>
            </a:pPr>
            <a:r>
              <a:rPr lang="en-US" sz="2659" spc="77">
                <a:solidFill>
                  <a:srgbClr val="FFFFFF"/>
                </a:solidFill>
                <a:latin typeface="Clear Sans"/>
                <a:ea typeface="Clear Sans"/>
                <a:cs typeface="Clear Sans"/>
                <a:sym typeface="Clear Sans"/>
              </a:rPr>
              <a:t>MUSTAFA ADEL</a:t>
            </a:r>
          </a:p>
        </p:txBody>
      </p:sp>
      <p:sp>
        <p:nvSpPr>
          <p:cNvPr name="TextBox 34" id="34"/>
          <p:cNvSpPr txBox="true"/>
          <p:nvPr/>
        </p:nvSpPr>
        <p:spPr>
          <a:xfrm rot="0">
            <a:off x="597883" y="9294566"/>
            <a:ext cx="3036124" cy="244601"/>
          </a:xfrm>
          <a:prstGeom prst="rect">
            <a:avLst/>
          </a:prstGeom>
        </p:spPr>
        <p:txBody>
          <a:bodyPr anchor="t" rtlCol="false" tIns="0" lIns="0" bIns="0" rIns="0">
            <a:spAutoFit/>
          </a:bodyPr>
          <a:lstStyle/>
          <a:p>
            <a:pPr algn="ctr">
              <a:lnSpc>
                <a:spcPts val="1790"/>
              </a:lnSpc>
            </a:pPr>
            <a:r>
              <a:rPr lang="en-US" sz="2034">
                <a:solidFill>
                  <a:srgbClr val="FFFFFF"/>
                </a:solidFill>
                <a:latin typeface="Clear Sans"/>
                <a:ea typeface="Clear Sans"/>
                <a:cs typeface="Clear Sans"/>
                <a:sym typeface="Clear Sans"/>
              </a:rPr>
              <a:t>Da</a:t>
            </a:r>
            <a:r>
              <a:rPr lang="en-US" sz="2034">
                <a:solidFill>
                  <a:srgbClr val="FFFFFF"/>
                </a:solidFill>
                <a:latin typeface="Clear Sans"/>
                <a:ea typeface="Clear Sans"/>
                <a:cs typeface="Clear Sans"/>
                <a:sym typeface="Clear Sans"/>
              </a:rPr>
              <a:t>ta Analyst</a:t>
            </a:r>
          </a:p>
        </p:txBody>
      </p:sp>
      <p:sp>
        <p:nvSpPr>
          <p:cNvPr name="TextBox 35" id="35"/>
          <p:cNvSpPr txBox="true"/>
          <p:nvPr/>
        </p:nvSpPr>
        <p:spPr>
          <a:xfrm rot="0">
            <a:off x="6654774" y="8867004"/>
            <a:ext cx="3036124" cy="340213"/>
          </a:xfrm>
          <a:prstGeom prst="rect">
            <a:avLst/>
          </a:prstGeom>
        </p:spPr>
        <p:txBody>
          <a:bodyPr anchor="t" rtlCol="false" tIns="0" lIns="0" bIns="0" rIns="0">
            <a:spAutoFit/>
          </a:bodyPr>
          <a:lstStyle/>
          <a:p>
            <a:pPr algn="ctr">
              <a:lnSpc>
                <a:spcPts val="2416"/>
              </a:lnSpc>
            </a:pPr>
            <a:r>
              <a:rPr lang="en-US" sz="2746" spc="79">
                <a:solidFill>
                  <a:srgbClr val="FFFFFF"/>
                </a:solidFill>
                <a:latin typeface="Clear Sans"/>
                <a:ea typeface="Clear Sans"/>
                <a:cs typeface="Clear Sans"/>
                <a:sym typeface="Clear Sans"/>
              </a:rPr>
              <a:t>HABIBA AMR</a:t>
            </a:r>
          </a:p>
        </p:txBody>
      </p:sp>
      <p:sp>
        <p:nvSpPr>
          <p:cNvPr name="TextBox 36" id="36"/>
          <p:cNvSpPr txBox="true"/>
          <p:nvPr/>
        </p:nvSpPr>
        <p:spPr>
          <a:xfrm rot="0">
            <a:off x="6663887" y="9294566"/>
            <a:ext cx="3036124" cy="244601"/>
          </a:xfrm>
          <a:prstGeom prst="rect">
            <a:avLst/>
          </a:prstGeom>
        </p:spPr>
        <p:txBody>
          <a:bodyPr anchor="t" rtlCol="false" tIns="0" lIns="0" bIns="0" rIns="0">
            <a:spAutoFit/>
          </a:bodyPr>
          <a:lstStyle/>
          <a:p>
            <a:pPr algn="ctr">
              <a:lnSpc>
                <a:spcPts val="1790"/>
              </a:lnSpc>
            </a:pPr>
            <a:r>
              <a:rPr lang="en-US" sz="2034">
                <a:solidFill>
                  <a:srgbClr val="FFFFFF"/>
                </a:solidFill>
                <a:latin typeface="Clear Sans"/>
                <a:ea typeface="Clear Sans"/>
                <a:cs typeface="Clear Sans"/>
                <a:sym typeface="Clear Sans"/>
              </a:rPr>
              <a:t>Da</a:t>
            </a:r>
            <a:r>
              <a:rPr lang="en-US" sz="2034">
                <a:solidFill>
                  <a:srgbClr val="FFFFFF"/>
                </a:solidFill>
                <a:latin typeface="Clear Sans"/>
                <a:ea typeface="Clear Sans"/>
                <a:cs typeface="Clear Sans"/>
                <a:sym typeface="Clear Sans"/>
              </a:rPr>
              <a:t>ta Analyst</a:t>
            </a:r>
          </a:p>
        </p:txBody>
      </p:sp>
      <p:sp>
        <p:nvSpPr>
          <p:cNvPr name="TextBox 37" id="37"/>
          <p:cNvSpPr txBox="true"/>
          <p:nvPr/>
        </p:nvSpPr>
        <p:spPr>
          <a:xfrm rot="0">
            <a:off x="12616408" y="9012874"/>
            <a:ext cx="3036124" cy="296462"/>
          </a:xfrm>
          <a:prstGeom prst="rect">
            <a:avLst/>
          </a:prstGeom>
        </p:spPr>
        <p:txBody>
          <a:bodyPr anchor="t" rtlCol="false" tIns="0" lIns="0" bIns="0" rIns="0">
            <a:spAutoFit/>
          </a:bodyPr>
          <a:lstStyle/>
          <a:p>
            <a:pPr algn="ctr">
              <a:lnSpc>
                <a:spcPts val="2294"/>
              </a:lnSpc>
            </a:pPr>
            <a:r>
              <a:rPr lang="en-US" sz="2607" spc="75">
                <a:solidFill>
                  <a:srgbClr val="FFFFFF"/>
                </a:solidFill>
                <a:latin typeface="Clear Sans"/>
                <a:ea typeface="Clear Sans"/>
                <a:cs typeface="Clear Sans"/>
                <a:sym typeface="Clear Sans"/>
              </a:rPr>
              <a:t>OLIVER MEDHAT</a:t>
            </a:r>
          </a:p>
        </p:txBody>
      </p:sp>
      <p:sp>
        <p:nvSpPr>
          <p:cNvPr name="TextBox 38" id="38"/>
          <p:cNvSpPr txBox="true"/>
          <p:nvPr/>
        </p:nvSpPr>
        <p:spPr>
          <a:xfrm rot="0">
            <a:off x="12616408" y="9409035"/>
            <a:ext cx="3036124" cy="244601"/>
          </a:xfrm>
          <a:prstGeom prst="rect">
            <a:avLst/>
          </a:prstGeom>
        </p:spPr>
        <p:txBody>
          <a:bodyPr anchor="t" rtlCol="false" tIns="0" lIns="0" bIns="0" rIns="0">
            <a:spAutoFit/>
          </a:bodyPr>
          <a:lstStyle/>
          <a:p>
            <a:pPr algn="ctr">
              <a:lnSpc>
                <a:spcPts val="1790"/>
              </a:lnSpc>
            </a:pPr>
            <a:r>
              <a:rPr lang="en-US" sz="2034">
                <a:solidFill>
                  <a:srgbClr val="FFFFFF"/>
                </a:solidFill>
                <a:latin typeface="Clear Sans"/>
                <a:ea typeface="Clear Sans"/>
                <a:cs typeface="Clear Sans"/>
                <a:sym typeface="Clear Sans"/>
              </a:rPr>
              <a:t>Da</a:t>
            </a:r>
            <a:r>
              <a:rPr lang="en-US" sz="2034">
                <a:solidFill>
                  <a:srgbClr val="FFFFFF"/>
                </a:solidFill>
                <a:latin typeface="Clear Sans"/>
                <a:ea typeface="Clear Sans"/>
                <a:cs typeface="Clear Sans"/>
                <a:sym typeface="Clear Sans"/>
              </a:rPr>
              <a:t>ta Analyst</a:t>
            </a:r>
          </a:p>
        </p:txBody>
      </p:sp>
      <p:sp>
        <p:nvSpPr>
          <p:cNvPr name="TextBox 39" id="39"/>
          <p:cNvSpPr txBox="true"/>
          <p:nvPr/>
        </p:nvSpPr>
        <p:spPr>
          <a:xfrm rot="0">
            <a:off x="12302352" y="4082758"/>
            <a:ext cx="3646009" cy="340213"/>
          </a:xfrm>
          <a:prstGeom prst="rect">
            <a:avLst/>
          </a:prstGeom>
        </p:spPr>
        <p:txBody>
          <a:bodyPr anchor="t" rtlCol="false" tIns="0" lIns="0" bIns="0" rIns="0">
            <a:spAutoFit/>
          </a:bodyPr>
          <a:lstStyle/>
          <a:p>
            <a:pPr algn="ctr">
              <a:lnSpc>
                <a:spcPts val="2416"/>
              </a:lnSpc>
            </a:pPr>
            <a:r>
              <a:rPr lang="en-US" sz="2746" spc="79">
                <a:solidFill>
                  <a:srgbClr val="FFFFFF"/>
                </a:solidFill>
                <a:latin typeface="Clear Sans"/>
                <a:ea typeface="Clear Sans"/>
                <a:cs typeface="Clear Sans"/>
                <a:sym typeface="Clear Sans"/>
              </a:rPr>
              <a:t>MARYEM MOHAMED</a:t>
            </a:r>
          </a:p>
        </p:txBody>
      </p:sp>
      <p:sp>
        <p:nvSpPr>
          <p:cNvPr name="TextBox 40" id="40"/>
          <p:cNvSpPr txBox="true"/>
          <p:nvPr/>
        </p:nvSpPr>
        <p:spPr>
          <a:xfrm rot="0">
            <a:off x="12607294" y="4585697"/>
            <a:ext cx="3036124" cy="244601"/>
          </a:xfrm>
          <a:prstGeom prst="rect">
            <a:avLst/>
          </a:prstGeom>
        </p:spPr>
        <p:txBody>
          <a:bodyPr anchor="t" rtlCol="false" tIns="0" lIns="0" bIns="0" rIns="0">
            <a:spAutoFit/>
          </a:bodyPr>
          <a:lstStyle/>
          <a:p>
            <a:pPr algn="ctr">
              <a:lnSpc>
                <a:spcPts val="1790"/>
              </a:lnSpc>
            </a:pPr>
            <a:r>
              <a:rPr lang="en-US" sz="2034">
                <a:solidFill>
                  <a:srgbClr val="FFFFFF"/>
                </a:solidFill>
                <a:latin typeface="Clear Sans"/>
                <a:ea typeface="Clear Sans"/>
                <a:cs typeface="Clear Sans"/>
                <a:sym typeface="Clear Sans"/>
              </a:rPr>
              <a:t>Da</a:t>
            </a:r>
            <a:r>
              <a:rPr lang="en-US" sz="2034">
                <a:solidFill>
                  <a:srgbClr val="FFFFFF"/>
                </a:solidFill>
                <a:latin typeface="Clear Sans"/>
                <a:ea typeface="Clear Sans"/>
                <a:cs typeface="Clear Sans"/>
                <a:sym typeface="Clear Sans"/>
              </a:rPr>
              <a:t>ta Analyst</a:t>
            </a:r>
          </a:p>
        </p:txBody>
      </p:sp>
      <p:sp>
        <p:nvSpPr>
          <p:cNvPr name="TextBox 41" id="41"/>
          <p:cNvSpPr txBox="true"/>
          <p:nvPr/>
        </p:nvSpPr>
        <p:spPr>
          <a:xfrm rot="0">
            <a:off x="582509" y="3968288"/>
            <a:ext cx="3036124" cy="340213"/>
          </a:xfrm>
          <a:prstGeom prst="rect">
            <a:avLst/>
          </a:prstGeom>
        </p:spPr>
        <p:txBody>
          <a:bodyPr anchor="t" rtlCol="false" tIns="0" lIns="0" bIns="0" rIns="0">
            <a:spAutoFit/>
          </a:bodyPr>
          <a:lstStyle/>
          <a:p>
            <a:pPr algn="ctr">
              <a:lnSpc>
                <a:spcPts val="2416"/>
              </a:lnSpc>
            </a:pPr>
            <a:r>
              <a:rPr lang="en-US" sz="2746" spc="79">
                <a:solidFill>
                  <a:srgbClr val="FFFFFF"/>
                </a:solidFill>
                <a:latin typeface="Clear Sans"/>
                <a:ea typeface="Clear Sans"/>
                <a:cs typeface="Clear Sans"/>
                <a:sym typeface="Clear Sans"/>
              </a:rPr>
              <a:t>BASMALA HELMY</a:t>
            </a:r>
          </a:p>
        </p:txBody>
      </p:sp>
      <p:sp>
        <p:nvSpPr>
          <p:cNvPr name="TextBox 42" id="42"/>
          <p:cNvSpPr txBox="true"/>
          <p:nvPr/>
        </p:nvSpPr>
        <p:spPr>
          <a:xfrm rot="0">
            <a:off x="591623" y="4475056"/>
            <a:ext cx="3036124" cy="244601"/>
          </a:xfrm>
          <a:prstGeom prst="rect">
            <a:avLst/>
          </a:prstGeom>
        </p:spPr>
        <p:txBody>
          <a:bodyPr anchor="t" rtlCol="false" tIns="0" lIns="0" bIns="0" rIns="0">
            <a:spAutoFit/>
          </a:bodyPr>
          <a:lstStyle/>
          <a:p>
            <a:pPr algn="ctr">
              <a:lnSpc>
                <a:spcPts val="1790"/>
              </a:lnSpc>
            </a:pPr>
            <a:r>
              <a:rPr lang="en-US" sz="2034">
                <a:solidFill>
                  <a:srgbClr val="FFFFFF"/>
                </a:solidFill>
                <a:latin typeface="Clear Sans"/>
                <a:ea typeface="Clear Sans"/>
                <a:cs typeface="Clear Sans"/>
                <a:sym typeface="Clear Sans"/>
              </a:rPr>
              <a:t>Data Analyst</a:t>
            </a:r>
          </a:p>
        </p:txBody>
      </p:sp>
      <p:sp>
        <p:nvSpPr>
          <p:cNvPr name="TextBox 43" id="43"/>
          <p:cNvSpPr txBox="true"/>
          <p:nvPr/>
        </p:nvSpPr>
        <p:spPr>
          <a:xfrm rot="0">
            <a:off x="6674488" y="4475056"/>
            <a:ext cx="3036124" cy="244601"/>
          </a:xfrm>
          <a:prstGeom prst="rect">
            <a:avLst/>
          </a:prstGeom>
        </p:spPr>
        <p:txBody>
          <a:bodyPr anchor="t" rtlCol="false" tIns="0" lIns="0" bIns="0" rIns="0">
            <a:spAutoFit/>
          </a:bodyPr>
          <a:lstStyle/>
          <a:p>
            <a:pPr algn="ctr">
              <a:lnSpc>
                <a:spcPts val="1790"/>
              </a:lnSpc>
            </a:pPr>
            <a:r>
              <a:rPr lang="en-US" sz="2034">
                <a:solidFill>
                  <a:srgbClr val="FFFFFF"/>
                </a:solidFill>
                <a:latin typeface="Clear Sans"/>
                <a:ea typeface="Clear Sans"/>
                <a:cs typeface="Clear Sans"/>
                <a:sym typeface="Clear Sans"/>
              </a:rPr>
              <a:t> Data scientist</a:t>
            </a:r>
          </a:p>
        </p:txBody>
      </p:sp>
      <p:sp>
        <p:nvSpPr>
          <p:cNvPr name="TextBox 44" id="44"/>
          <p:cNvSpPr txBox="true"/>
          <p:nvPr/>
        </p:nvSpPr>
        <p:spPr>
          <a:xfrm rot="0">
            <a:off x="6654774" y="3968288"/>
            <a:ext cx="3036124" cy="340213"/>
          </a:xfrm>
          <a:prstGeom prst="rect">
            <a:avLst/>
          </a:prstGeom>
        </p:spPr>
        <p:txBody>
          <a:bodyPr anchor="t" rtlCol="false" tIns="0" lIns="0" bIns="0" rIns="0">
            <a:spAutoFit/>
          </a:bodyPr>
          <a:lstStyle/>
          <a:p>
            <a:pPr algn="ctr">
              <a:lnSpc>
                <a:spcPts val="2416"/>
              </a:lnSpc>
            </a:pPr>
            <a:r>
              <a:rPr lang="en-US" sz="2746" spc="79">
                <a:solidFill>
                  <a:srgbClr val="FFFFFF"/>
                </a:solidFill>
                <a:latin typeface="Clear Sans"/>
                <a:ea typeface="Clear Sans"/>
                <a:cs typeface="Clear Sans"/>
                <a:sym typeface="Clear Sans"/>
              </a:rPr>
              <a:t>KHALED RABBAH</a:t>
            </a:r>
          </a:p>
        </p:txBody>
      </p:sp>
      <p:sp>
        <p:nvSpPr>
          <p:cNvPr name="TextBox 45" id="45"/>
          <p:cNvSpPr txBox="true"/>
          <p:nvPr/>
        </p:nvSpPr>
        <p:spPr>
          <a:xfrm rot="0">
            <a:off x="3935171" y="5474502"/>
            <a:ext cx="2421767" cy="3524508"/>
          </a:xfrm>
          <a:prstGeom prst="rect">
            <a:avLst/>
          </a:prstGeom>
        </p:spPr>
        <p:txBody>
          <a:bodyPr anchor="t" rtlCol="false" tIns="0" lIns="0" bIns="0" rIns="0">
            <a:spAutoFit/>
          </a:bodyPr>
          <a:lstStyle/>
          <a:p>
            <a:pPr algn="ctr">
              <a:lnSpc>
                <a:spcPts val="4593"/>
              </a:lnSpc>
              <a:spcBef>
                <a:spcPct val="0"/>
              </a:spcBef>
            </a:pPr>
            <a:r>
              <a:rPr lang="en-US" sz="3281">
                <a:solidFill>
                  <a:srgbClr val="FFFFFF"/>
                </a:solidFill>
                <a:latin typeface="Agrandir"/>
                <a:ea typeface="Agrandir"/>
                <a:cs typeface="Agrandir"/>
                <a:sym typeface="Agrandir"/>
              </a:rPr>
              <a:t>“Our design mastermind the one who turns dashboards into art”</a:t>
            </a:r>
          </a:p>
        </p:txBody>
      </p:sp>
      <p:sp>
        <p:nvSpPr>
          <p:cNvPr name="TextBox 46" id="46"/>
          <p:cNvSpPr txBox="true"/>
          <p:nvPr/>
        </p:nvSpPr>
        <p:spPr>
          <a:xfrm rot="0">
            <a:off x="4042517" y="575972"/>
            <a:ext cx="2292324" cy="4014543"/>
          </a:xfrm>
          <a:prstGeom prst="rect">
            <a:avLst/>
          </a:prstGeom>
        </p:spPr>
        <p:txBody>
          <a:bodyPr anchor="t" rtlCol="false" tIns="0" lIns="0" bIns="0" rIns="0">
            <a:spAutoFit/>
          </a:bodyPr>
          <a:lstStyle/>
          <a:p>
            <a:pPr algn="ctr">
              <a:lnSpc>
                <a:spcPts val="3950"/>
              </a:lnSpc>
              <a:spcBef>
                <a:spcPct val="0"/>
              </a:spcBef>
            </a:pPr>
            <a:r>
              <a:rPr lang="en-US" sz="2822">
                <a:solidFill>
                  <a:srgbClr val="FFFFFF"/>
                </a:solidFill>
                <a:latin typeface="Agrandir"/>
                <a:ea typeface="Agrandir"/>
                <a:cs typeface="Agrandir"/>
                <a:sym typeface="Agrandir"/>
              </a:rPr>
              <a:t>“The creative engine  unique ideas, bold colors, and out of the box thinking.”</a:t>
            </a:r>
          </a:p>
          <a:p>
            <a:pPr algn="ctr">
              <a:lnSpc>
                <a:spcPts val="3950"/>
              </a:lnSpc>
              <a:spcBef>
                <a:spcPct val="0"/>
              </a:spcBef>
            </a:pPr>
          </a:p>
        </p:txBody>
      </p:sp>
      <p:sp>
        <p:nvSpPr>
          <p:cNvPr name="TextBox 47" id="47"/>
          <p:cNvSpPr txBox="true"/>
          <p:nvPr/>
        </p:nvSpPr>
        <p:spPr>
          <a:xfrm rot="0">
            <a:off x="10107437" y="5185728"/>
            <a:ext cx="2082795" cy="4509843"/>
          </a:xfrm>
          <a:prstGeom prst="rect">
            <a:avLst/>
          </a:prstGeom>
        </p:spPr>
        <p:txBody>
          <a:bodyPr anchor="t" rtlCol="false" tIns="0" lIns="0" bIns="0" rIns="0">
            <a:spAutoFit/>
          </a:bodyPr>
          <a:lstStyle/>
          <a:p>
            <a:pPr algn="ctr">
              <a:lnSpc>
                <a:spcPts val="3950"/>
              </a:lnSpc>
              <a:spcBef>
                <a:spcPct val="0"/>
              </a:spcBef>
            </a:pPr>
            <a:r>
              <a:rPr lang="en-US" sz="2822">
                <a:solidFill>
                  <a:srgbClr val="FFFFFF"/>
                </a:solidFill>
                <a:latin typeface="Agrandir"/>
                <a:ea typeface="Agrandir"/>
                <a:cs typeface="Agrandir"/>
                <a:sym typeface="Agrandir"/>
              </a:rPr>
              <a:t>“I</a:t>
            </a:r>
            <a:r>
              <a:rPr lang="en-US" sz="2822">
                <a:solidFill>
                  <a:srgbClr val="FFFFFF"/>
                </a:solidFill>
                <a:latin typeface="Agrandir"/>
                <a:ea typeface="Agrandir"/>
                <a:cs typeface="Agrandir"/>
                <a:sym typeface="Agrandir"/>
              </a:rPr>
              <a:t>nnovative mind with sharp problem</a:t>
            </a:r>
          </a:p>
          <a:p>
            <a:pPr algn="ctr">
              <a:lnSpc>
                <a:spcPts val="3950"/>
              </a:lnSpc>
              <a:spcBef>
                <a:spcPct val="0"/>
              </a:spcBef>
            </a:pPr>
            <a:r>
              <a:rPr lang="en-US" sz="2822">
                <a:solidFill>
                  <a:srgbClr val="FFFFFF"/>
                </a:solidFill>
                <a:latin typeface="Agrandir"/>
                <a:ea typeface="Agrandir"/>
                <a:cs typeface="Agrandir"/>
                <a:sym typeface="Agrandir"/>
              </a:rPr>
              <a:t>solving and ideas that always elevate the work”</a:t>
            </a:r>
          </a:p>
        </p:txBody>
      </p:sp>
      <p:sp>
        <p:nvSpPr>
          <p:cNvPr name="TextBox 48" id="48"/>
          <p:cNvSpPr txBox="true"/>
          <p:nvPr/>
        </p:nvSpPr>
        <p:spPr>
          <a:xfrm rot="0">
            <a:off x="15900387" y="439966"/>
            <a:ext cx="2380751" cy="4014543"/>
          </a:xfrm>
          <a:prstGeom prst="rect">
            <a:avLst/>
          </a:prstGeom>
        </p:spPr>
        <p:txBody>
          <a:bodyPr anchor="t" rtlCol="false" tIns="0" lIns="0" bIns="0" rIns="0">
            <a:spAutoFit/>
          </a:bodyPr>
          <a:lstStyle/>
          <a:p>
            <a:pPr algn="ctr">
              <a:lnSpc>
                <a:spcPts val="3950"/>
              </a:lnSpc>
              <a:spcBef>
                <a:spcPct val="0"/>
              </a:spcBef>
            </a:pPr>
            <a:r>
              <a:rPr lang="en-US" sz="2822">
                <a:solidFill>
                  <a:srgbClr val="FFFFFF"/>
                </a:solidFill>
                <a:latin typeface="Agrandir"/>
                <a:ea typeface="Agrandir"/>
                <a:cs typeface="Agrandir"/>
                <a:sym typeface="Agrandir"/>
              </a:rPr>
              <a:t>“The hard worker  always pushing, learning, and delivering like a real business pro”</a:t>
            </a:r>
          </a:p>
        </p:txBody>
      </p:sp>
      <p:sp>
        <p:nvSpPr>
          <p:cNvPr name="TextBox 49" id="49"/>
          <p:cNvSpPr txBox="true"/>
          <p:nvPr/>
        </p:nvSpPr>
        <p:spPr>
          <a:xfrm rot="0">
            <a:off x="10029057" y="411391"/>
            <a:ext cx="2239556" cy="3803373"/>
          </a:xfrm>
          <a:prstGeom prst="rect">
            <a:avLst/>
          </a:prstGeom>
        </p:spPr>
        <p:txBody>
          <a:bodyPr anchor="t" rtlCol="false" tIns="0" lIns="0" bIns="0" rIns="0">
            <a:spAutoFit/>
          </a:bodyPr>
          <a:lstStyle/>
          <a:p>
            <a:pPr algn="ctr">
              <a:lnSpc>
                <a:spcPts val="4248"/>
              </a:lnSpc>
              <a:spcBef>
                <a:spcPct val="0"/>
              </a:spcBef>
            </a:pPr>
            <a:r>
              <a:rPr lang="en-US" sz="3034">
                <a:solidFill>
                  <a:srgbClr val="FFFFFF"/>
                </a:solidFill>
                <a:latin typeface="Agrandir"/>
                <a:ea typeface="Agrandir"/>
                <a:cs typeface="Agrandir"/>
                <a:sym typeface="Agrandir"/>
              </a:rPr>
              <a:t>“The problem solver  nothing is too complex for him to crack”</a:t>
            </a:r>
          </a:p>
        </p:txBody>
      </p:sp>
      <p:sp>
        <p:nvSpPr>
          <p:cNvPr name="TextBox 50" id="50"/>
          <p:cNvSpPr txBox="true"/>
          <p:nvPr/>
        </p:nvSpPr>
        <p:spPr>
          <a:xfrm rot="0">
            <a:off x="16030431" y="5522981"/>
            <a:ext cx="2120662" cy="3590499"/>
          </a:xfrm>
          <a:prstGeom prst="rect">
            <a:avLst/>
          </a:prstGeom>
        </p:spPr>
        <p:txBody>
          <a:bodyPr anchor="t" rtlCol="false" tIns="0" lIns="0" bIns="0" rIns="0">
            <a:spAutoFit/>
          </a:bodyPr>
          <a:lstStyle/>
          <a:p>
            <a:pPr algn="ctr">
              <a:lnSpc>
                <a:spcPts val="4022"/>
              </a:lnSpc>
              <a:spcBef>
                <a:spcPct val="0"/>
              </a:spcBef>
            </a:pPr>
            <a:r>
              <a:rPr lang="en-US" sz="2873">
                <a:solidFill>
                  <a:srgbClr val="FFFFFF"/>
                </a:solidFill>
                <a:latin typeface="Agrandir"/>
                <a:ea typeface="Agrandir"/>
                <a:cs typeface="Agrandir"/>
                <a:sym typeface="Agrandir"/>
              </a:rPr>
              <a:t>“Ha</a:t>
            </a:r>
            <a:r>
              <a:rPr lang="en-US" sz="2873">
                <a:solidFill>
                  <a:srgbClr val="FFFFFF"/>
                </a:solidFill>
                <a:latin typeface="Agrandir"/>
                <a:ea typeface="Agrandir"/>
                <a:cs typeface="Agrandir"/>
                <a:sym typeface="Agrandir"/>
              </a:rPr>
              <a:t>rd</a:t>
            </a:r>
          </a:p>
          <a:p>
            <a:pPr algn="ctr">
              <a:lnSpc>
                <a:spcPts val="4022"/>
              </a:lnSpc>
              <a:spcBef>
                <a:spcPct val="0"/>
              </a:spcBef>
            </a:pPr>
            <a:r>
              <a:rPr lang="en-US" sz="2873">
                <a:solidFill>
                  <a:srgbClr val="FFFFFF"/>
                </a:solidFill>
                <a:latin typeface="Agrandir"/>
                <a:ea typeface="Agrandir"/>
                <a:cs typeface="Agrandir"/>
                <a:sym typeface="Agrandir"/>
              </a:rPr>
              <a:t>working, committed, and always trying something new”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668017" y="779311"/>
            <a:ext cx="7957857" cy="4038527"/>
          </a:xfrm>
          <a:prstGeom prst="rect">
            <a:avLst/>
          </a:prstGeom>
        </p:spPr>
        <p:txBody>
          <a:bodyPr anchor="t" rtlCol="false" tIns="0" lIns="0" bIns="0" rIns="0">
            <a:spAutoFit/>
          </a:bodyPr>
          <a:lstStyle/>
          <a:p>
            <a:pPr algn="l">
              <a:lnSpc>
                <a:spcPts val="10310"/>
              </a:lnSpc>
            </a:pPr>
            <a:r>
              <a:rPr lang="en-US" sz="11716">
                <a:solidFill>
                  <a:srgbClr val="FFFFFF"/>
                </a:solidFill>
                <a:latin typeface="Anton"/>
                <a:ea typeface="Anton"/>
                <a:cs typeface="Anton"/>
                <a:sym typeface="Anton"/>
              </a:rPr>
              <a:t>INTRODUCTION TO </a:t>
            </a:r>
            <a:r>
              <a:rPr lang="en-US" sz="11716">
                <a:solidFill>
                  <a:srgbClr val="FFFFFF"/>
                </a:solidFill>
                <a:latin typeface="Anton"/>
                <a:ea typeface="Anton"/>
                <a:cs typeface="Anton"/>
                <a:sym typeface="Anton"/>
              </a:rPr>
              <a:t>OUR PROJECT IDEA</a:t>
            </a:r>
          </a:p>
        </p:txBody>
      </p:sp>
      <p:sp>
        <p:nvSpPr>
          <p:cNvPr name="Freeform 4" id="4"/>
          <p:cNvSpPr/>
          <p:nvPr/>
        </p:nvSpPr>
        <p:spPr>
          <a:xfrm flipH="false" flipV="false" rot="0">
            <a:off x="904811" y="5143500"/>
            <a:ext cx="7484270" cy="4735502"/>
          </a:xfrm>
          <a:custGeom>
            <a:avLst/>
            <a:gdLst/>
            <a:ahLst/>
            <a:cxnLst/>
            <a:rect r="r" b="b" t="t" l="l"/>
            <a:pathLst>
              <a:path h="4735502" w="7484270">
                <a:moveTo>
                  <a:pt x="0" y="0"/>
                </a:moveTo>
                <a:lnTo>
                  <a:pt x="7484270" y="0"/>
                </a:lnTo>
                <a:lnTo>
                  <a:pt x="7484270" y="4735502"/>
                </a:lnTo>
                <a:lnTo>
                  <a:pt x="0" y="47355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920320" y="2077740"/>
            <a:ext cx="7653580" cy="5651103"/>
          </a:xfrm>
          <a:prstGeom prst="rect">
            <a:avLst/>
          </a:prstGeom>
        </p:spPr>
        <p:txBody>
          <a:bodyPr anchor="t" rtlCol="false" tIns="0" lIns="0" bIns="0" rIns="0">
            <a:spAutoFit/>
          </a:bodyPr>
          <a:lstStyle/>
          <a:p>
            <a:pPr algn="ctr">
              <a:lnSpc>
                <a:spcPts val="5621"/>
              </a:lnSpc>
              <a:spcBef>
                <a:spcPct val="0"/>
              </a:spcBef>
            </a:pPr>
            <a:r>
              <a:rPr lang="en-US" sz="4015">
                <a:solidFill>
                  <a:srgbClr val="FFFFFF"/>
                </a:solidFill>
                <a:latin typeface="Bodoni FLF"/>
                <a:ea typeface="Bodoni FLF"/>
                <a:cs typeface="Bodoni FLF"/>
                <a:sym typeface="Bodoni FLF"/>
              </a:rPr>
              <a:t>“Beyond Jobless” is an idea of exploring the employment landscape across all U.S. states. It examines monthly unemployment rates since 1976. The goal is to understand how different factors shape the American job market and what drives people in or out of work.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925028" y="574678"/>
            <a:ext cx="7400107" cy="4720801"/>
          </a:xfrm>
          <a:prstGeom prst="rect">
            <a:avLst/>
          </a:prstGeom>
        </p:spPr>
        <p:txBody>
          <a:bodyPr anchor="t" rtlCol="false" tIns="0" lIns="0" bIns="0" rIns="0">
            <a:spAutoFit/>
          </a:bodyPr>
          <a:lstStyle/>
          <a:p>
            <a:pPr algn="l">
              <a:lnSpc>
                <a:spcPts val="12073"/>
              </a:lnSpc>
            </a:pPr>
            <a:r>
              <a:rPr lang="en-US" sz="13719">
                <a:solidFill>
                  <a:srgbClr val="FFFFFF"/>
                </a:solidFill>
                <a:latin typeface="Anton"/>
                <a:ea typeface="Anton"/>
                <a:cs typeface="Anton"/>
                <a:sym typeface="Anton"/>
              </a:rPr>
              <a:t>HOW T</a:t>
            </a:r>
            <a:r>
              <a:rPr lang="en-US" sz="13719">
                <a:solidFill>
                  <a:srgbClr val="FFFFFF"/>
                </a:solidFill>
                <a:latin typeface="Anton"/>
                <a:ea typeface="Anton"/>
                <a:cs typeface="Anton"/>
                <a:sym typeface="Anton"/>
              </a:rPr>
              <a:t>HE IDEA STARTED</a:t>
            </a:r>
          </a:p>
        </p:txBody>
      </p:sp>
      <p:sp>
        <p:nvSpPr>
          <p:cNvPr name="TextBox 4" id="4"/>
          <p:cNvSpPr txBox="true"/>
          <p:nvPr/>
        </p:nvSpPr>
        <p:spPr>
          <a:xfrm rot="0">
            <a:off x="9144000" y="1326130"/>
            <a:ext cx="8428803" cy="5934473"/>
          </a:xfrm>
          <a:prstGeom prst="rect">
            <a:avLst/>
          </a:prstGeom>
        </p:spPr>
        <p:txBody>
          <a:bodyPr anchor="t" rtlCol="false" tIns="0" lIns="0" bIns="0" rIns="0">
            <a:spAutoFit/>
          </a:bodyPr>
          <a:lstStyle/>
          <a:p>
            <a:pPr algn="ctr">
              <a:lnSpc>
                <a:spcPts val="5228"/>
              </a:lnSpc>
              <a:spcBef>
                <a:spcPct val="0"/>
              </a:spcBef>
            </a:pPr>
            <a:r>
              <a:rPr lang="en-US" sz="3734">
                <a:solidFill>
                  <a:srgbClr val="FFFFFF"/>
                </a:solidFill>
                <a:latin typeface="Bodoni FLF"/>
                <a:ea typeface="Bodoni FLF"/>
                <a:cs typeface="Bodoni FLF"/>
                <a:sym typeface="Bodoni FLF"/>
              </a:rPr>
              <a:t>We wanted to explore a topic that affects both individuals and the economy. After reviewing several datasets, we noticed how rich and detailed U.S. labor statistics are, where it covers employment history, incomes, and hiring behavior. This inspired us to create a full picture of what the job market really looks like and how it has changed over time.</a:t>
            </a:r>
          </a:p>
        </p:txBody>
      </p:sp>
      <p:sp>
        <p:nvSpPr>
          <p:cNvPr name="Freeform 5" id="5"/>
          <p:cNvSpPr/>
          <p:nvPr/>
        </p:nvSpPr>
        <p:spPr>
          <a:xfrm flipH="false" flipV="false" rot="168506">
            <a:off x="1030881" y="5638594"/>
            <a:ext cx="7104064" cy="4494935"/>
          </a:xfrm>
          <a:custGeom>
            <a:avLst/>
            <a:gdLst/>
            <a:ahLst/>
            <a:cxnLst/>
            <a:rect r="r" b="b" t="t" l="l"/>
            <a:pathLst>
              <a:path h="4494935" w="7104064">
                <a:moveTo>
                  <a:pt x="0" y="0"/>
                </a:moveTo>
                <a:lnTo>
                  <a:pt x="7104064" y="0"/>
                </a:lnTo>
                <a:lnTo>
                  <a:pt x="7104064" y="4494935"/>
                </a:lnTo>
                <a:lnTo>
                  <a:pt x="0" y="44949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3399350" y="573584"/>
            <a:ext cx="11489301" cy="2243168"/>
          </a:xfrm>
          <a:prstGeom prst="rect">
            <a:avLst/>
          </a:prstGeom>
        </p:spPr>
        <p:txBody>
          <a:bodyPr anchor="t" rtlCol="false" tIns="0" lIns="0" bIns="0" rIns="0">
            <a:spAutoFit/>
          </a:bodyPr>
          <a:lstStyle/>
          <a:p>
            <a:pPr algn="ctr">
              <a:lnSpc>
                <a:spcPts val="8154"/>
              </a:lnSpc>
            </a:pPr>
            <a:r>
              <a:rPr lang="en-US" sz="9266">
                <a:solidFill>
                  <a:srgbClr val="FFFFFF"/>
                </a:solidFill>
                <a:latin typeface="Bodoni FLF"/>
                <a:ea typeface="Bodoni FLF"/>
                <a:cs typeface="Bodoni FLF"/>
                <a:sym typeface="Bodoni FLF"/>
              </a:rPr>
              <a:t>WHY</a:t>
            </a:r>
          </a:p>
          <a:p>
            <a:pPr algn="ctr">
              <a:lnSpc>
                <a:spcPts val="8154"/>
              </a:lnSpc>
            </a:pPr>
            <a:r>
              <a:rPr lang="en-US" sz="9266">
                <a:solidFill>
                  <a:srgbClr val="FFFFFF"/>
                </a:solidFill>
                <a:latin typeface="Bodoni FLF"/>
                <a:ea typeface="Bodoni FLF"/>
                <a:cs typeface="Bodoni FLF"/>
                <a:sym typeface="Bodoni FLF"/>
              </a:rPr>
              <a:t>“BEYOND JOBLESS”</a:t>
            </a:r>
          </a:p>
        </p:txBody>
      </p:sp>
      <p:grpSp>
        <p:nvGrpSpPr>
          <p:cNvPr name="Group 4" id="4"/>
          <p:cNvGrpSpPr/>
          <p:nvPr/>
        </p:nvGrpSpPr>
        <p:grpSpPr>
          <a:xfrm rot="0">
            <a:off x="1864805" y="4152869"/>
            <a:ext cx="3354861" cy="4709887"/>
            <a:chOff x="0" y="0"/>
            <a:chExt cx="933099" cy="1309977"/>
          </a:xfrm>
        </p:grpSpPr>
        <p:sp>
          <p:nvSpPr>
            <p:cNvPr name="Freeform 5" id="5"/>
            <p:cNvSpPr/>
            <p:nvPr/>
          </p:nvSpPr>
          <p:spPr>
            <a:xfrm flipH="false" flipV="false" rot="0">
              <a:off x="0" y="0"/>
              <a:ext cx="933099" cy="1309977"/>
            </a:xfrm>
            <a:custGeom>
              <a:avLst/>
              <a:gdLst/>
              <a:ahLst/>
              <a:cxnLst/>
              <a:rect r="r" b="b" t="t" l="l"/>
              <a:pathLst>
                <a:path h="1309977" w="933099">
                  <a:moveTo>
                    <a:pt x="0" y="0"/>
                  </a:moveTo>
                  <a:lnTo>
                    <a:pt x="933099" y="0"/>
                  </a:lnTo>
                  <a:lnTo>
                    <a:pt x="933099" y="1309977"/>
                  </a:lnTo>
                  <a:lnTo>
                    <a:pt x="0" y="1309977"/>
                  </a:lnTo>
                  <a:close/>
                </a:path>
              </a:pathLst>
            </a:custGeom>
            <a:solidFill>
              <a:srgbClr val="D2B0E9">
                <a:alpha val="89804"/>
              </a:srgbClr>
            </a:solidFill>
          </p:spPr>
        </p:sp>
        <p:sp>
          <p:nvSpPr>
            <p:cNvPr name="TextBox 6" id="6"/>
            <p:cNvSpPr txBox="true"/>
            <p:nvPr/>
          </p:nvSpPr>
          <p:spPr>
            <a:xfrm>
              <a:off x="0" y="-47625"/>
              <a:ext cx="933099" cy="135760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5600222" y="4152869"/>
            <a:ext cx="3354861" cy="4709887"/>
            <a:chOff x="0" y="0"/>
            <a:chExt cx="933099" cy="1309977"/>
          </a:xfrm>
        </p:grpSpPr>
        <p:sp>
          <p:nvSpPr>
            <p:cNvPr name="Freeform 8" id="8"/>
            <p:cNvSpPr/>
            <p:nvPr/>
          </p:nvSpPr>
          <p:spPr>
            <a:xfrm flipH="false" flipV="false" rot="0">
              <a:off x="0" y="0"/>
              <a:ext cx="933099" cy="1309977"/>
            </a:xfrm>
            <a:custGeom>
              <a:avLst/>
              <a:gdLst/>
              <a:ahLst/>
              <a:cxnLst/>
              <a:rect r="r" b="b" t="t" l="l"/>
              <a:pathLst>
                <a:path h="1309977" w="933099">
                  <a:moveTo>
                    <a:pt x="0" y="0"/>
                  </a:moveTo>
                  <a:lnTo>
                    <a:pt x="933099" y="0"/>
                  </a:lnTo>
                  <a:lnTo>
                    <a:pt x="933099" y="1309977"/>
                  </a:lnTo>
                  <a:lnTo>
                    <a:pt x="0" y="1309977"/>
                  </a:lnTo>
                  <a:close/>
                </a:path>
              </a:pathLst>
            </a:custGeom>
            <a:solidFill>
              <a:srgbClr val="D2B0E9">
                <a:alpha val="89804"/>
              </a:srgbClr>
            </a:solidFill>
          </p:spPr>
        </p:sp>
        <p:sp>
          <p:nvSpPr>
            <p:cNvPr name="TextBox 9" id="9"/>
            <p:cNvSpPr txBox="true"/>
            <p:nvPr/>
          </p:nvSpPr>
          <p:spPr>
            <a:xfrm>
              <a:off x="0" y="-47625"/>
              <a:ext cx="933099" cy="1357602"/>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332918" y="4152869"/>
            <a:ext cx="3354861" cy="4709887"/>
            <a:chOff x="0" y="0"/>
            <a:chExt cx="933099" cy="1309977"/>
          </a:xfrm>
        </p:grpSpPr>
        <p:sp>
          <p:nvSpPr>
            <p:cNvPr name="Freeform 11" id="11"/>
            <p:cNvSpPr/>
            <p:nvPr/>
          </p:nvSpPr>
          <p:spPr>
            <a:xfrm flipH="false" flipV="false" rot="0">
              <a:off x="0" y="0"/>
              <a:ext cx="933099" cy="1309977"/>
            </a:xfrm>
            <a:custGeom>
              <a:avLst/>
              <a:gdLst/>
              <a:ahLst/>
              <a:cxnLst/>
              <a:rect r="r" b="b" t="t" l="l"/>
              <a:pathLst>
                <a:path h="1309977" w="933099">
                  <a:moveTo>
                    <a:pt x="0" y="0"/>
                  </a:moveTo>
                  <a:lnTo>
                    <a:pt x="933099" y="0"/>
                  </a:lnTo>
                  <a:lnTo>
                    <a:pt x="933099" y="1309977"/>
                  </a:lnTo>
                  <a:lnTo>
                    <a:pt x="0" y="1309977"/>
                  </a:lnTo>
                  <a:close/>
                </a:path>
              </a:pathLst>
            </a:custGeom>
            <a:solidFill>
              <a:srgbClr val="D2B0E9">
                <a:alpha val="89804"/>
              </a:srgbClr>
            </a:solidFill>
          </p:spPr>
        </p:sp>
        <p:sp>
          <p:nvSpPr>
            <p:cNvPr name="TextBox 12" id="12"/>
            <p:cNvSpPr txBox="true"/>
            <p:nvPr/>
          </p:nvSpPr>
          <p:spPr>
            <a:xfrm>
              <a:off x="0" y="-47625"/>
              <a:ext cx="933099" cy="1357602"/>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856081">
            <a:off x="9634074" y="3588267"/>
            <a:ext cx="8108902" cy="4991840"/>
          </a:xfrm>
          <a:custGeom>
            <a:avLst/>
            <a:gdLst/>
            <a:ahLst/>
            <a:cxnLst/>
            <a:rect r="r" b="b" t="t" l="l"/>
            <a:pathLst>
              <a:path h="4991840" w="8108902">
                <a:moveTo>
                  <a:pt x="0" y="0"/>
                </a:moveTo>
                <a:lnTo>
                  <a:pt x="8108902" y="0"/>
                </a:lnTo>
                <a:lnTo>
                  <a:pt x="8108902" y="4991840"/>
                </a:lnTo>
                <a:lnTo>
                  <a:pt x="0" y="49918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3068334" y="4152869"/>
            <a:ext cx="3354861" cy="4709887"/>
            <a:chOff x="0" y="0"/>
            <a:chExt cx="933099" cy="1309977"/>
          </a:xfrm>
        </p:grpSpPr>
        <p:sp>
          <p:nvSpPr>
            <p:cNvPr name="Freeform 15" id="15"/>
            <p:cNvSpPr/>
            <p:nvPr/>
          </p:nvSpPr>
          <p:spPr>
            <a:xfrm flipH="false" flipV="false" rot="0">
              <a:off x="0" y="0"/>
              <a:ext cx="933099" cy="1309977"/>
            </a:xfrm>
            <a:custGeom>
              <a:avLst/>
              <a:gdLst/>
              <a:ahLst/>
              <a:cxnLst/>
              <a:rect r="r" b="b" t="t" l="l"/>
              <a:pathLst>
                <a:path h="1309977" w="933099">
                  <a:moveTo>
                    <a:pt x="0" y="0"/>
                  </a:moveTo>
                  <a:lnTo>
                    <a:pt x="933099" y="0"/>
                  </a:lnTo>
                  <a:lnTo>
                    <a:pt x="933099" y="1309977"/>
                  </a:lnTo>
                  <a:lnTo>
                    <a:pt x="0" y="1309977"/>
                  </a:lnTo>
                  <a:close/>
                </a:path>
              </a:pathLst>
            </a:custGeom>
            <a:solidFill>
              <a:srgbClr val="D2B0E9">
                <a:alpha val="89804"/>
              </a:srgbClr>
            </a:solidFill>
          </p:spPr>
        </p:sp>
        <p:sp>
          <p:nvSpPr>
            <p:cNvPr name="TextBox 16" id="16"/>
            <p:cNvSpPr txBox="true"/>
            <p:nvPr/>
          </p:nvSpPr>
          <p:spPr>
            <a:xfrm>
              <a:off x="0" y="-47625"/>
              <a:ext cx="933099" cy="1357602"/>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2341418" y="5315869"/>
            <a:ext cx="2412052" cy="2944104"/>
          </a:xfrm>
          <a:prstGeom prst="rect">
            <a:avLst/>
          </a:prstGeom>
        </p:spPr>
        <p:txBody>
          <a:bodyPr anchor="t" rtlCol="false" tIns="0" lIns="0" bIns="0" rIns="0">
            <a:spAutoFit/>
          </a:bodyPr>
          <a:lstStyle/>
          <a:p>
            <a:pPr algn="ctr">
              <a:lnSpc>
                <a:spcPts val="2994"/>
              </a:lnSpc>
            </a:pPr>
            <a:r>
              <a:rPr lang="en-US" sz="1751" spc="943">
                <a:solidFill>
                  <a:srgbClr val="0E0519"/>
                </a:solidFill>
                <a:latin typeface="Raleway"/>
                <a:ea typeface="Raleway"/>
                <a:cs typeface="Raleway"/>
                <a:sym typeface="Raleway"/>
              </a:rPr>
              <a:t>TH</a:t>
            </a:r>
            <a:r>
              <a:rPr lang="en-US" sz="1751" spc="943">
                <a:solidFill>
                  <a:srgbClr val="0E0519"/>
                </a:solidFill>
                <a:latin typeface="Raleway"/>
                <a:ea typeface="Raleway"/>
                <a:cs typeface="Raleway"/>
                <a:sym typeface="Raleway"/>
              </a:rPr>
              <a:t>E TOPIC ALLOWS DEEP ANALYSIS AND IMPACTFUL VISUALIZATIONS.</a:t>
            </a:r>
          </a:p>
        </p:txBody>
      </p:sp>
      <p:sp>
        <p:nvSpPr>
          <p:cNvPr name="TextBox 18" id="18"/>
          <p:cNvSpPr txBox="true"/>
          <p:nvPr/>
        </p:nvSpPr>
        <p:spPr>
          <a:xfrm rot="0">
            <a:off x="2151893" y="4672694"/>
            <a:ext cx="2791104" cy="313454"/>
          </a:xfrm>
          <a:prstGeom prst="rect">
            <a:avLst/>
          </a:prstGeom>
        </p:spPr>
        <p:txBody>
          <a:bodyPr anchor="t" rtlCol="false" tIns="0" lIns="0" bIns="0" rIns="0">
            <a:spAutoFit/>
          </a:bodyPr>
          <a:lstStyle/>
          <a:p>
            <a:pPr algn="ctr">
              <a:lnSpc>
                <a:spcPts val="2249"/>
              </a:lnSpc>
            </a:pPr>
            <a:r>
              <a:rPr lang="en-US" b="true" sz="2556">
                <a:solidFill>
                  <a:srgbClr val="FFFFFF"/>
                </a:solidFill>
                <a:latin typeface="Raleway Bold"/>
                <a:ea typeface="Raleway Bold"/>
                <a:cs typeface="Raleway Bold"/>
                <a:sym typeface="Raleway Bold"/>
              </a:rPr>
              <a:t> 1</a:t>
            </a:r>
          </a:p>
        </p:txBody>
      </p:sp>
      <p:sp>
        <p:nvSpPr>
          <p:cNvPr name="TextBox 19" id="19"/>
          <p:cNvSpPr txBox="true"/>
          <p:nvPr/>
        </p:nvSpPr>
        <p:spPr>
          <a:xfrm rot="0">
            <a:off x="6164357" y="5340265"/>
            <a:ext cx="2223870" cy="2944104"/>
          </a:xfrm>
          <a:prstGeom prst="rect">
            <a:avLst/>
          </a:prstGeom>
        </p:spPr>
        <p:txBody>
          <a:bodyPr anchor="t" rtlCol="false" tIns="0" lIns="0" bIns="0" rIns="0">
            <a:spAutoFit/>
          </a:bodyPr>
          <a:lstStyle/>
          <a:p>
            <a:pPr algn="ctr">
              <a:lnSpc>
                <a:spcPts val="2994"/>
              </a:lnSpc>
            </a:pPr>
            <a:r>
              <a:rPr lang="en-US" sz="1751" spc="943">
                <a:solidFill>
                  <a:srgbClr val="000000"/>
                </a:solidFill>
                <a:latin typeface="Raleway"/>
                <a:ea typeface="Raleway"/>
                <a:cs typeface="Raleway"/>
                <a:sym typeface="Raleway"/>
              </a:rPr>
              <a:t>TH</a:t>
            </a:r>
            <a:r>
              <a:rPr lang="en-US" sz="1751" spc="943">
                <a:solidFill>
                  <a:srgbClr val="000000"/>
                </a:solidFill>
                <a:latin typeface="Raleway"/>
                <a:ea typeface="Raleway"/>
                <a:cs typeface="Raleway"/>
                <a:sym typeface="Raleway"/>
              </a:rPr>
              <a:t>E U.S. PROVIDES RELIABLE AND HISTORIC DATA (BACK TO 1976).</a:t>
            </a:r>
          </a:p>
        </p:txBody>
      </p:sp>
      <p:sp>
        <p:nvSpPr>
          <p:cNvPr name="TextBox 20" id="20"/>
          <p:cNvSpPr txBox="true"/>
          <p:nvPr/>
        </p:nvSpPr>
        <p:spPr>
          <a:xfrm rot="0">
            <a:off x="5884589" y="4669450"/>
            <a:ext cx="2791104" cy="313454"/>
          </a:xfrm>
          <a:prstGeom prst="rect">
            <a:avLst/>
          </a:prstGeom>
        </p:spPr>
        <p:txBody>
          <a:bodyPr anchor="t" rtlCol="false" tIns="0" lIns="0" bIns="0" rIns="0">
            <a:spAutoFit/>
          </a:bodyPr>
          <a:lstStyle/>
          <a:p>
            <a:pPr algn="ctr">
              <a:lnSpc>
                <a:spcPts val="2249"/>
              </a:lnSpc>
            </a:pPr>
            <a:r>
              <a:rPr lang="en-US" b="true" sz="2556">
                <a:solidFill>
                  <a:srgbClr val="FFFFFF"/>
                </a:solidFill>
                <a:latin typeface="Raleway Bold"/>
                <a:ea typeface="Raleway Bold"/>
                <a:cs typeface="Raleway Bold"/>
                <a:sym typeface="Raleway Bold"/>
              </a:rPr>
              <a:t>2</a:t>
            </a:r>
          </a:p>
        </p:txBody>
      </p:sp>
      <p:sp>
        <p:nvSpPr>
          <p:cNvPr name="TextBox 21" id="21"/>
          <p:cNvSpPr txBox="true"/>
          <p:nvPr/>
        </p:nvSpPr>
        <p:spPr>
          <a:xfrm rot="0">
            <a:off x="9895924" y="5337021"/>
            <a:ext cx="2223870" cy="2985633"/>
          </a:xfrm>
          <a:prstGeom prst="rect">
            <a:avLst/>
          </a:prstGeom>
        </p:spPr>
        <p:txBody>
          <a:bodyPr anchor="t" rtlCol="false" tIns="0" lIns="0" bIns="0" rIns="0">
            <a:spAutoFit/>
          </a:bodyPr>
          <a:lstStyle/>
          <a:p>
            <a:pPr algn="ctr">
              <a:lnSpc>
                <a:spcPts val="2652"/>
              </a:lnSpc>
            </a:pPr>
            <a:r>
              <a:rPr lang="en-US" sz="1551" spc="836">
                <a:solidFill>
                  <a:srgbClr val="000000"/>
                </a:solidFill>
                <a:latin typeface="Raleway"/>
                <a:ea typeface="Raleway"/>
                <a:cs typeface="Raleway"/>
                <a:sym typeface="Raleway"/>
              </a:rPr>
              <a:t>THE J</a:t>
            </a:r>
            <a:r>
              <a:rPr lang="en-US" sz="1551" spc="836">
                <a:solidFill>
                  <a:srgbClr val="000000"/>
                </a:solidFill>
                <a:latin typeface="Raleway"/>
                <a:ea typeface="Raleway"/>
                <a:cs typeface="Raleway"/>
                <a:sym typeface="Raleway"/>
              </a:rPr>
              <a:t>OB MARKET IS ONE OF THE STRONGEST INDICATORS OF ECONOMIC STABILITY.</a:t>
            </a:r>
          </a:p>
        </p:txBody>
      </p:sp>
      <p:sp>
        <p:nvSpPr>
          <p:cNvPr name="TextBox 22" id="22"/>
          <p:cNvSpPr txBox="true"/>
          <p:nvPr/>
        </p:nvSpPr>
        <p:spPr>
          <a:xfrm rot="0">
            <a:off x="9612307" y="4672694"/>
            <a:ext cx="2791104" cy="313454"/>
          </a:xfrm>
          <a:prstGeom prst="rect">
            <a:avLst/>
          </a:prstGeom>
        </p:spPr>
        <p:txBody>
          <a:bodyPr anchor="t" rtlCol="false" tIns="0" lIns="0" bIns="0" rIns="0">
            <a:spAutoFit/>
          </a:bodyPr>
          <a:lstStyle/>
          <a:p>
            <a:pPr algn="ctr">
              <a:lnSpc>
                <a:spcPts val="2249"/>
              </a:lnSpc>
            </a:pPr>
            <a:r>
              <a:rPr lang="en-US" b="true" sz="2556">
                <a:solidFill>
                  <a:srgbClr val="FFFFFF"/>
                </a:solidFill>
                <a:latin typeface="Raleway Bold"/>
                <a:ea typeface="Raleway Bold"/>
                <a:cs typeface="Raleway Bold"/>
                <a:sym typeface="Raleway Bold"/>
              </a:rPr>
              <a:t>3</a:t>
            </a:r>
          </a:p>
        </p:txBody>
      </p:sp>
      <p:sp>
        <p:nvSpPr>
          <p:cNvPr name="TextBox 23" id="23"/>
          <p:cNvSpPr txBox="true"/>
          <p:nvPr/>
        </p:nvSpPr>
        <p:spPr>
          <a:xfrm rot="0">
            <a:off x="13627492" y="5324253"/>
            <a:ext cx="2223870" cy="3160131"/>
          </a:xfrm>
          <a:prstGeom prst="rect">
            <a:avLst/>
          </a:prstGeom>
        </p:spPr>
        <p:txBody>
          <a:bodyPr anchor="t" rtlCol="false" tIns="0" lIns="0" bIns="0" rIns="0">
            <a:spAutoFit/>
          </a:bodyPr>
          <a:lstStyle/>
          <a:p>
            <a:pPr algn="ctr">
              <a:lnSpc>
                <a:spcPts val="2823"/>
              </a:lnSpc>
            </a:pPr>
            <a:r>
              <a:rPr lang="en-US" sz="1651" spc="889">
                <a:solidFill>
                  <a:srgbClr val="000000"/>
                </a:solidFill>
                <a:latin typeface="Raleway"/>
                <a:ea typeface="Raleway"/>
                <a:cs typeface="Raleway"/>
                <a:sym typeface="Raleway"/>
              </a:rPr>
              <a:t>D</a:t>
            </a:r>
            <a:r>
              <a:rPr lang="en-US" sz="1651" spc="889">
                <a:solidFill>
                  <a:srgbClr val="000000"/>
                </a:solidFill>
                <a:latin typeface="Raleway"/>
                <a:ea typeface="Raleway"/>
                <a:cs typeface="Raleway"/>
                <a:sym typeface="Raleway"/>
              </a:rPr>
              <a:t>IFFERENT JOB FIELDS SHOW CONTRASTS IN PAY, DEMAND, AND STABILITY.</a:t>
            </a:r>
          </a:p>
        </p:txBody>
      </p:sp>
      <p:sp>
        <p:nvSpPr>
          <p:cNvPr name="TextBox 24" id="24"/>
          <p:cNvSpPr txBox="true"/>
          <p:nvPr/>
        </p:nvSpPr>
        <p:spPr>
          <a:xfrm rot="0">
            <a:off x="13343875" y="4672694"/>
            <a:ext cx="2791104" cy="313454"/>
          </a:xfrm>
          <a:prstGeom prst="rect">
            <a:avLst/>
          </a:prstGeom>
        </p:spPr>
        <p:txBody>
          <a:bodyPr anchor="t" rtlCol="false" tIns="0" lIns="0" bIns="0" rIns="0">
            <a:spAutoFit/>
          </a:bodyPr>
          <a:lstStyle/>
          <a:p>
            <a:pPr algn="ctr">
              <a:lnSpc>
                <a:spcPts val="2249"/>
              </a:lnSpc>
            </a:pPr>
            <a:r>
              <a:rPr lang="en-US" b="true" sz="2556">
                <a:solidFill>
                  <a:srgbClr val="FFFFFF"/>
                </a:solidFill>
                <a:latin typeface="Raleway Bold"/>
                <a:ea typeface="Raleway Bold"/>
                <a:cs typeface="Raleway Bold"/>
                <a:sym typeface="Raleway Bold"/>
              </a:rPr>
              <a:t>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Freeform 3" id="3"/>
          <p:cNvSpPr/>
          <p:nvPr/>
        </p:nvSpPr>
        <p:spPr>
          <a:xfrm flipH="false" flipV="false" rot="-10048798">
            <a:off x="12379906" y="8024830"/>
            <a:ext cx="4524339" cy="4524339"/>
          </a:xfrm>
          <a:custGeom>
            <a:avLst/>
            <a:gdLst/>
            <a:ahLst/>
            <a:cxnLst/>
            <a:rect r="r" b="b" t="t" l="l"/>
            <a:pathLst>
              <a:path h="4524339" w="4524339">
                <a:moveTo>
                  <a:pt x="0" y="0"/>
                </a:moveTo>
                <a:lnTo>
                  <a:pt x="4524339" y="0"/>
                </a:lnTo>
                <a:lnTo>
                  <a:pt x="4524339" y="4524340"/>
                </a:lnTo>
                <a:lnTo>
                  <a:pt x="0" y="4524340"/>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501820" y="584534"/>
            <a:ext cx="5064317" cy="5064317"/>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4"/>
              <a:stretch>
                <a:fillRect l="-25136" t="0" r="-25136" b="0"/>
              </a:stretch>
            </a:blipFill>
          </p:spPr>
        </p:sp>
      </p:grpSp>
      <p:grpSp>
        <p:nvGrpSpPr>
          <p:cNvPr name="Group 6" id="6"/>
          <p:cNvGrpSpPr/>
          <p:nvPr/>
        </p:nvGrpSpPr>
        <p:grpSpPr>
          <a:xfrm rot="0">
            <a:off x="6329843" y="3116692"/>
            <a:ext cx="11780374" cy="6633998"/>
            <a:chOff x="0" y="0"/>
            <a:chExt cx="3012096" cy="1696231"/>
          </a:xfrm>
        </p:grpSpPr>
        <p:sp>
          <p:nvSpPr>
            <p:cNvPr name="Freeform 7" id="7"/>
            <p:cNvSpPr/>
            <p:nvPr/>
          </p:nvSpPr>
          <p:spPr>
            <a:xfrm flipH="false" flipV="false" rot="0">
              <a:off x="0" y="0"/>
              <a:ext cx="3012096" cy="1696231"/>
            </a:xfrm>
            <a:custGeom>
              <a:avLst/>
              <a:gdLst/>
              <a:ahLst/>
              <a:cxnLst/>
              <a:rect r="r" b="b" t="t" l="l"/>
              <a:pathLst>
                <a:path h="1696231" w="3012096">
                  <a:moveTo>
                    <a:pt x="13801" y="0"/>
                  </a:moveTo>
                  <a:lnTo>
                    <a:pt x="2998295" y="0"/>
                  </a:lnTo>
                  <a:cubicBezTo>
                    <a:pt x="3001955" y="0"/>
                    <a:pt x="3005466" y="1454"/>
                    <a:pt x="3008054" y="4042"/>
                  </a:cubicBezTo>
                  <a:cubicBezTo>
                    <a:pt x="3010642" y="6630"/>
                    <a:pt x="3012096" y="10141"/>
                    <a:pt x="3012096" y="13801"/>
                  </a:cubicBezTo>
                  <a:lnTo>
                    <a:pt x="3012096" y="1682430"/>
                  </a:lnTo>
                  <a:cubicBezTo>
                    <a:pt x="3012096" y="1690052"/>
                    <a:pt x="3005917" y="1696231"/>
                    <a:pt x="2998295" y="1696231"/>
                  </a:cubicBezTo>
                  <a:lnTo>
                    <a:pt x="13801" y="1696231"/>
                  </a:lnTo>
                  <a:cubicBezTo>
                    <a:pt x="6179" y="1696231"/>
                    <a:pt x="0" y="1690052"/>
                    <a:pt x="0" y="1682430"/>
                  </a:cubicBezTo>
                  <a:lnTo>
                    <a:pt x="0" y="13801"/>
                  </a:lnTo>
                  <a:cubicBezTo>
                    <a:pt x="0" y="10141"/>
                    <a:pt x="1454" y="6630"/>
                    <a:pt x="4042" y="4042"/>
                  </a:cubicBezTo>
                  <a:cubicBezTo>
                    <a:pt x="6630" y="1454"/>
                    <a:pt x="10141" y="0"/>
                    <a:pt x="13801" y="0"/>
                  </a:cubicBezTo>
                  <a:close/>
                </a:path>
              </a:pathLst>
            </a:custGeom>
            <a:solidFill>
              <a:srgbClr val="463974"/>
            </a:solidFill>
          </p:spPr>
        </p:sp>
        <p:sp>
          <p:nvSpPr>
            <p:cNvPr name="TextBox 8" id="8"/>
            <p:cNvSpPr txBox="true"/>
            <p:nvPr/>
          </p:nvSpPr>
          <p:spPr>
            <a:xfrm>
              <a:off x="0" y="-28575"/>
              <a:ext cx="3012096" cy="172480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6549886" y="3371842"/>
            <a:ext cx="11340290" cy="6087143"/>
          </a:xfrm>
          <a:custGeom>
            <a:avLst/>
            <a:gdLst/>
            <a:ahLst/>
            <a:cxnLst/>
            <a:rect r="r" b="b" t="t" l="l"/>
            <a:pathLst>
              <a:path h="6087143" w="11340290">
                <a:moveTo>
                  <a:pt x="0" y="0"/>
                </a:moveTo>
                <a:lnTo>
                  <a:pt x="11340289" y="0"/>
                </a:lnTo>
                <a:lnTo>
                  <a:pt x="11340289" y="6087143"/>
                </a:lnTo>
                <a:lnTo>
                  <a:pt x="0" y="6087143"/>
                </a:lnTo>
                <a:lnTo>
                  <a:pt x="0" y="0"/>
                </a:lnTo>
                <a:close/>
              </a:path>
            </a:pathLst>
          </a:custGeom>
          <a:blipFill>
            <a:blip r:embed="rId5"/>
            <a:stretch>
              <a:fillRect l="-415" t="0" r="-415" b="-1113"/>
            </a:stretch>
          </a:blipFill>
        </p:spPr>
      </p:sp>
      <p:sp>
        <p:nvSpPr>
          <p:cNvPr name="TextBox 10" id="10"/>
          <p:cNvSpPr txBox="true"/>
          <p:nvPr/>
        </p:nvSpPr>
        <p:spPr>
          <a:xfrm rot="0">
            <a:off x="8164622" y="775034"/>
            <a:ext cx="7921187" cy="2034038"/>
          </a:xfrm>
          <a:prstGeom prst="rect">
            <a:avLst/>
          </a:prstGeom>
        </p:spPr>
        <p:txBody>
          <a:bodyPr anchor="t" rtlCol="false" tIns="0" lIns="0" bIns="0" rIns="0">
            <a:spAutoFit/>
          </a:bodyPr>
          <a:lstStyle/>
          <a:p>
            <a:pPr algn="l">
              <a:lnSpc>
                <a:spcPts val="7468"/>
              </a:lnSpc>
            </a:pPr>
            <a:r>
              <a:rPr lang="en-US" sz="8486">
                <a:solidFill>
                  <a:srgbClr val="FFFFFF"/>
                </a:solidFill>
                <a:latin typeface="Bodoni FLF"/>
                <a:ea typeface="Bodoni FLF"/>
                <a:cs typeface="Bodoni FLF"/>
                <a:sym typeface="Bodoni FLF"/>
              </a:rPr>
              <a:t>DAT</a:t>
            </a:r>
            <a:r>
              <a:rPr lang="en-US" sz="8486">
                <a:solidFill>
                  <a:srgbClr val="FFFFFF"/>
                </a:solidFill>
                <a:latin typeface="Bodoni FLF"/>
                <a:ea typeface="Bodoni FLF"/>
                <a:cs typeface="Bodoni FLF"/>
                <a:sym typeface="Bodoni FLF"/>
              </a:rPr>
              <a:t>A MINING</a:t>
            </a:r>
          </a:p>
          <a:p>
            <a:pPr algn="l">
              <a:lnSpc>
                <a:spcPts val="7468"/>
              </a:lnSpc>
            </a:pPr>
            <a:r>
              <a:rPr lang="en-US" sz="8486">
                <a:solidFill>
                  <a:srgbClr val="FFFFFF"/>
                </a:solidFill>
                <a:latin typeface="Bodoni FLF"/>
                <a:ea typeface="Bodoni FLF"/>
                <a:cs typeface="Bodoni FLF"/>
                <a:sym typeface="Bodoni FLF"/>
              </a:rPr>
              <a:t> &amp; CLEANING</a:t>
            </a:r>
          </a:p>
        </p:txBody>
      </p:sp>
      <p:sp>
        <p:nvSpPr>
          <p:cNvPr name="TextBox 11" id="11"/>
          <p:cNvSpPr txBox="true"/>
          <p:nvPr/>
        </p:nvSpPr>
        <p:spPr>
          <a:xfrm rot="0">
            <a:off x="501820" y="6367789"/>
            <a:ext cx="5725156" cy="2984820"/>
          </a:xfrm>
          <a:prstGeom prst="rect">
            <a:avLst/>
          </a:prstGeom>
        </p:spPr>
        <p:txBody>
          <a:bodyPr anchor="t" rtlCol="false" tIns="0" lIns="0" bIns="0" rIns="0">
            <a:spAutoFit/>
          </a:bodyPr>
          <a:lstStyle/>
          <a:p>
            <a:pPr algn="l">
              <a:lnSpc>
                <a:spcPts val="2629"/>
              </a:lnSpc>
            </a:pPr>
            <a:r>
              <a:rPr lang="en-US" sz="1776" spc="957">
                <a:solidFill>
                  <a:srgbClr val="FFFFFF"/>
                </a:solidFill>
                <a:latin typeface="Canva Sans"/>
                <a:ea typeface="Canva Sans"/>
                <a:cs typeface="Canva Sans"/>
                <a:sym typeface="Canva Sans"/>
              </a:rPr>
              <a:t>IN</a:t>
            </a:r>
            <a:r>
              <a:rPr lang="en-US" sz="1776" spc="957">
                <a:solidFill>
                  <a:srgbClr val="FFFFFF"/>
                </a:solidFill>
                <a:latin typeface="Canva Sans"/>
                <a:ea typeface="Canva Sans"/>
                <a:cs typeface="Canva Sans"/>
                <a:sym typeface="Canva Sans"/>
              </a:rPr>
              <a:t> THIS PART WE SAILED ACROSS THE VAST OCEAN OF U.S. EMPLOYMENT DATA, NAVIGATING THOUSANDS OF RECORDS &amp; EXPLORING EVERY CORNER TO UNCOVER THE INSIGHTS WE NEEDED FOR OUR PROJECT.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Freeform 3" id="3"/>
          <p:cNvSpPr/>
          <p:nvPr/>
        </p:nvSpPr>
        <p:spPr>
          <a:xfrm flipH="false" flipV="false" rot="154096">
            <a:off x="9777292" y="3033938"/>
            <a:ext cx="7638827" cy="4708295"/>
          </a:xfrm>
          <a:custGeom>
            <a:avLst/>
            <a:gdLst/>
            <a:ahLst/>
            <a:cxnLst/>
            <a:rect r="r" b="b" t="t" l="l"/>
            <a:pathLst>
              <a:path h="4708295" w="7638827">
                <a:moveTo>
                  <a:pt x="0" y="0"/>
                </a:moveTo>
                <a:lnTo>
                  <a:pt x="7638827" y="0"/>
                </a:lnTo>
                <a:lnTo>
                  <a:pt x="7638827" y="4708295"/>
                </a:lnTo>
                <a:lnTo>
                  <a:pt x="0" y="47082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77790" y="236883"/>
            <a:ext cx="8115300" cy="9537397"/>
          </a:xfrm>
          <a:prstGeom prst="rect">
            <a:avLst/>
          </a:prstGeom>
        </p:spPr>
        <p:txBody>
          <a:bodyPr anchor="t" rtlCol="false" tIns="0" lIns="0" bIns="0" rIns="0">
            <a:spAutoFit/>
          </a:bodyPr>
          <a:lstStyle/>
          <a:p>
            <a:pPr algn="ctr">
              <a:lnSpc>
                <a:spcPts val="5091"/>
              </a:lnSpc>
              <a:spcBef>
                <a:spcPct val="0"/>
              </a:spcBef>
            </a:pPr>
            <a:r>
              <a:rPr lang="en-US" sz="3636">
                <a:solidFill>
                  <a:srgbClr val="FFFFFF"/>
                </a:solidFill>
                <a:latin typeface="Tex Gyre Termes"/>
                <a:ea typeface="Tex Gyre Termes"/>
                <a:cs typeface="Tex Gyre Termes"/>
                <a:sym typeface="Tex Gyre Termes"/>
              </a:rPr>
              <a:t>“</a:t>
            </a:r>
            <a:r>
              <a:rPr lang="en-US" sz="3636">
                <a:solidFill>
                  <a:srgbClr val="FFFFFF"/>
                </a:solidFill>
                <a:latin typeface="Tex Gyre Termes"/>
                <a:ea typeface="Tex Gyre Termes"/>
                <a:cs typeface="Tex Gyre Termes"/>
                <a:sym typeface="Tex Gyre Termes"/>
              </a:rPr>
              <a:t>DURING THE CLEANING PHASE, WE APPLIED COMMON STEPS TO ALL TABLES &amp; DATA SETS, WHERE WE:</a:t>
            </a:r>
          </a:p>
          <a:p>
            <a:pPr algn="ctr">
              <a:lnSpc>
                <a:spcPts val="5091"/>
              </a:lnSpc>
              <a:spcBef>
                <a:spcPct val="0"/>
              </a:spcBef>
            </a:pPr>
            <a:r>
              <a:rPr lang="en-US" sz="3636">
                <a:solidFill>
                  <a:srgbClr val="FFFFFF"/>
                </a:solidFill>
                <a:latin typeface="Tex Gyre Termes"/>
                <a:ea typeface="Tex Gyre Termes"/>
                <a:cs typeface="Tex Gyre Termes"/>
                <a:sym typeface="Tex Gyre Termes"/>
              </a:rPr>
              <a:t> 1| REMOVED ALL DUPLICATED VALUES, </a:t>
            </a:r>
          </a:p>
          <a:p>
            <a:pPr algn="ctr">
              <a:lnSpc>
                <a:spcPts val="5091"/>
              </a:lnSpc>
              <a:spcBef>
                <a:spcPct val="0"/>
              </a:spcBef>
            </a:pPr>
            <a:r>
              <a:rPr lang="en-US" sz="3636">
                <a:solidFill>
                  <a:srgbClr val="FFFFFF"/>
                </a:solidFill>
                <a:latin typeface="Tex Gyre Termes"/>
                <a:ea typeface="Tex Gyre Termes"/>
                <a:cs typeface="Tex Gyre Termes"/>
                <a:sym typeface="Tex Gyre Termes"/>
              </a:rPr>
              <a:t>2| RENAMED ALL COLUMNS TO CLEAR &amp; READABLE NAMES, </a:t>
            </a:r>
          </a:p>
          <a:p>
            <a:pPr algn="ctr">
              <a:lnSpc>
                <a:spcPts val="5091"/>
              </a:lnSpc>
              <a:spcBef>
                <a:spcPct val="0"/>
              </a:spcBef>
            </a:pPr>
            <a:r>
              <a:rPr lang="en-US" sz="3636">
                <a:solidFill>
                  <a:srgbClr val="FFFFFF"/>
                </a:solidFill>
                <a:latin typeface="Tex Gyre Termes"/>
                <a:ea typeface="Tex Gyre Termes"/>
                <a:cs typeface="Tex Gyre Termes"/>
                <a:sym typeface="Tex Gyre Termes"/>
              </a:rPr>
              <a:t>3| IDENTIFIED MISSING VALUES &amp; INCONSISTENCIES, </a:t>
            </a:r>
          </a:p>
          <a:p>
            <a:pPr algn="ctr">
              <a:lnSpc>
                <a:spcPts val="5091"/>
              </a:lnSpc>
              <a:spcBef>
                <a:spcPct val="0"/>
              </a:spcBef>
            </a:pPr>
            <a:r>
              <a:rPr lang="en-US" sz="3636">
                <a:solidFill>
                  <a:srgbClr val="FFFFFF"/>
                </a:solidFill>
                <a:latin typeface="Tex Gyre Termes"/>
                <a:ea typeface="Tex Gyre Termes"/>
                <a:cs typeface="Tex Gyre Termes"/>
                <a:sym typeface="Tex Gyre Termes"/>
              </a:rPr>
              <a:t>4| CATEGORIZED MAJOR DATA CATEGORIES INTO SEPERATED TABLES</a:t>
            </a:r>
          </a:p>
          <a:p>
            <a:pPr algn="ctr">
              <a:lnSpc>
                <a:spcPts val="5091"/>
              </a:lnSpc>
              <a:spcBef>
                <a:spcPct val="0"/>
              </a:spcBef>
            </a:pPr>
            <a:r>
              <a:rPr lang="en-US" sz="3636">
                <a:solidFill>
                  <a:srgbClr val="FFFFFF"/>
                </a:solidFill>
                <a:latin typeface="Tex Gyre Termes"/>
                <a:ea typeface="Tex Gyre Termes"/>
                <a:cs typeface="Tex Gyre Termes"/>
                <a:sym typeface="Tex Gyre Termes"/>
              </a:rPr>
              <a:t>WE USED THE M LANGUAGE AND POWERQUERY TO CLEAN 15 MILLION ROW.”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439092" y="325814"/>
            <a:ext cx="14305826" cy="2166701"/>
          </a:xfrm>
          <a:prstGeom prst="rect">
            <a:avLst/>
          </a:prstGeom>
        </p:spPr>
        <p:txBody>
          <a:bodyPr anchor="t" rtlCol="false" tIns="0" lIns="0" bIns="0" rIns="0">
            <a:spAutoFit/>
          </a:bodyPr>
          <a:lstStyle/>
          <a:p>
            <a:pPr algn="l">
              <a:lnSpc>
                <a:spcPts val="7935"/>
              </a:lnSpc>
            </a:pPr>
            <a:r>
              <a:rPr lang="en-US" sz="9017">
                <a:solidFill>
                  <a:srgbClr val="FFFFFF"/>
                </a:solidFill>
                <a:latin typeface="Bodoni FLF"/>
                <a:ea typeface="Bodoni FLF"/>
                <a:cs typeface="Bodoni FLF"/>
                <a:sym typeface="Bodoni FLF"/>
              </a:rPr>
              <a:t>DATA</a:t>
            </a:r>
            <a:r>
              <a:rPr lang="en-US" sz="9017">
                <a:solidFill>
                  <a:srgbClr val="FFFFFF"/>
                </a:solidFill>
                <a:latin typeface="Bodoni FLF"/>
                <a:ea typeface="Bodoni FLF"/>
                <a:cs typeface="Bodoni FLF"/>
                <a:sym typeface="Bodoni FLF"/>
              </a:rPr>
              <a:t> STRUCTURING&amp;                                MODELING</a:t>
            </a:r>
          </a:p>
        </p:txBody>
      </p:sp>
      <p:grpSp>
        <p:nvGrpSpPr>
          <p:cNvPr name="Group 4" id="4"/>
          <p:cNvGrpSpPr/>
          <p:nvPr/>
        </p:nvGrpSpPr>
        <p:grpSpPr>
          <a:xfrm rot="0">
            <a:off x="6329843" y="2207144"/>
            <a:ext cx="11780374" cy="7543546"/>
            <a:chOff x="0" y="0"/>
            <a:chExt cx="3012096" cy="1928791"/>
          </a:xfrm>
        </p:grpSpPr>
        <p:sp>
          <p:nvSpPr>
            <p:cNvPr name="Freeform 5" id="5"/>
            <p:cNvSpPr/>
            <p:nvPr/>
          </p:nvSpPr>
          <p:spPr>
            <a:xfrm flipH="false" flipV="false" rot="0">
              <a:off x="0" y="0"/>
              <a:ext cx="3012096" cy="1928791"/>
            </a:xfrm>
            <a:custGeom>
              <a:avLst/>
              <a:gdLst/>
              <a:ahLst/>
              <a:cxnLst/>
              <a:rect r="r" b="b" t="t" l="l"/>
              <a:pathLst>
                <a:path h="1928791" w="3012096">
                  <a:moveTo>
                    <a:pt x="13801" y="0"/>
                  </a:moveTo>
                  <a:lnTo>
                    <a:pt x="2998295" y="0"/>
                  </a:lnTo>
                  <a:cubicBezTo>
                    <a:pt x="3001955" y="0"/>
                    <a:pt x="3005466" y="1454"/>
                    <a:pt x="3008054" y="4042"/>
                  </a:cubicBezTo>
                  <a:cubicBezTo>
                    <a:pt x="3010642" y="6630"/>
                    <a:pt x="3012096" y="10141"/>
                    <a:pt x="3012096" y="13801"/>
                  </a:cubicBezTo>
                  <a:lnTo>
                    <a:pt x="3012096" y="1914990"/>
                  </a:lnTo>
                  <a:cubicBezTo>
                    <a:pt x="3012096" y="1922612"/>
                    <a:pt x="3005917" y="1928791"/>
                    <a:pt x="2998295" y="1928791"/>
                  </a:cubicBezTo>
                  <a:lnTo>
                    <a:pt x="13801" y="1928791"/>
                  </a:lnTo>
                  <a:cubicBezTo>
                    <a:pt x="10141" y="1928791"/>
                    <a:pt x="6630" y="1927337"/>
                    <a:pt x="4042" y="1924749"/>
                  </a:cubicBezTo>
                  <a:cubicBezTo>
                    <a:pt x="1454" y="1922161"/>
                    <a:pt x="0" y="1918651"/>
                    <a:pt x="0" y="1914990"/>
                  </a:cubicBezTo>
                  <a:lnTo>
                    <a:pt x="0" y="13801"/>
                  </a:lnTo>
                  <a:cubicBezTo>
                    <a:pt x="0" y="10141"/>
                    <a:pt x="1454" y="6630"/>
                    <a:pt x="4042" y="4042"/>
                  </a:cubicBezTo>
                  <a:cubicBezTo>
                    <a:pt x="6630" y="1454"/>
                    <a:pt x="10141" y="0"/>
                    <a:pt x="13801" y="0"/>
                  </a:cubicBezTo>
                  <a:close/>
                </a:path>
              </a:pathLst>
            </a:custGeom>
            <a:solidFill>
              <a:srgbClr val="463974"/>
            </a:solidFill>
          </p:spPr>
        </p:sp>
        <p:sp>
          <p:nvSpPr>
            <p:cNvPr name="TextBox 6" id="6"/>
            <p:cNvSpPr txBox="true"/>
            <p:nvPr/>
          </p:nvSpPr>
          <p:spPr>
            <a:xfrm>
              <a:off x="0" y="-28575"/>
              <a:ext cx="3012096" cy="1957366"/>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6549886" y="2492515"/>
            <a:ext cx="11340290" cy="6966471"/>
          </a:xfrm>
          <a:custGeom>
            <a:avLst/>
            <a:gdLst/>
            <a:ahLst/>
            <a:cxnLst/>
            <a:rect r="r" b="b" t="t" l="l"/>
            <a:pathLst>
              <a:path h="6966471" w="11340290">
                <a:moveTo>
                  <a:pt x="0" y="0"/>
                </a:moveTo>
                <a:lnTo>
                  <a:pt x="11340289" y="0"/>
                </a:lnTo>
                <a:lnTo>
                  <a:pt x="11340289" y="6966470"/>
                </a:lnTo>
                <a:lnTo>
                  <a:pt x="0" y="6966470"/>
                </a:lnTo>
                <a:lnTo>
                  <a:pt x="0" y="0"/>
                </a:lnTo>
                <a:close/>
              </a:path>
            </a:pathLst>
          </a:custGeom>
          <a:blipFill>
            <a:blip r:embed="rId3"/>
            <a:stretch>
              <a:fillRect l="-1982" t="0" r="-1982" b="-9158"/>
            </a:stretch>
          </a:blipFill>
        </p:spPr>
      </p:sp>
      <p:sp>
        <p:nvSpPr>
          <p:cNvPr name="TextBox 8" id="8"/>
          <p:cNvSpPr txBox="true"/>
          <p:nvPr/>
        </p:nvSpPr>
        <p:spPr>
          <a:xfrm rot="0">
            <a:off x="439092" y="2993446"/>
            <a:ext cx="5632731" cy="6302063"/>
          </a:xfrm>
          <a:prstGeom prst="rect">
            <a:avLst/>
          </a:prstGeom>
        </p:spPr>
        <p:txBody>
          <a:bodyPr anchor="t" rtlCol="false" tIns="0" lIns="0" bIns="0" rIns="0">
            <a:spAutoFit/>
          </a:bodyPr>
          <a:lstStyle/>
          <a:p>
            <a:pPr algn="ctr">
              <a:lnSpc>
                <a:spcPts val="3342"/>
              </a:lnSpc>
              <a:spcBef>
                <a:spcPct val="0"/>
              </a:spcBef>
            </a:pPr>
            <a:r>
              <a:rPr lang="en-US" b="true" sz="2387">
                <a:solidFill>
                  <a:srgbClr val="FFFFFF"/>
                </a:solidFill>
                <a:latin typeface="Bodoni FLF"/>
                <a:ea typeface="Bodoni FLF"/>
                <a:cs typeface="Bodoni FLF"/>
                <a:sym typeface="Bodoni FLF"/>
              </a:rPr>
              <a:t>ONCE THE DATA WAS CLEANED, WE MOVED INTO STRUCTURING AND MODELING WHERE WE STARTED REFORMMING OUR CLEANED DATASETS TO SUPPORT OUR ANALYTICAL VISION BY APPLYING STRATEGIC DAX MEASURES &amp; FUNCTIONS, AND BUILDING RELATIONSHIPS BETWEEN QUERIES.</a:t>
            </a:r>
          </a:p>
          <a:p>
            <a:pPr algn="ctr">
              <a:lnSpc>
                <a:spcPts val="3342"/>
              </a:lnSpc>
              <a:spcBef>
                <a:spcPct val="0"/>
              </a:spcBef>
            </a:pPr>
          </a:p>
          <a:p>
            <a:pPr algn="ctr">
              <a:lnSpc>
                <a:spcPts val="3342"/>
              </a:lnSpc>
              <a:spcBef>
                <a:spcPct val="0"/>
              </a:spcBef>
            </a:pPr>
            <a:r>
              <a:rPr lang="en-US" b="true" sz="2387">
                <a:solidFill>
                  <a:srgbClr val="FFFFFF"/>
                </a:solidFill>
                <a:latin typeface="Bodoni FLF"/>
                <a:ea typeface="Bodoni FLF"/>
                <a:cs typeface="Bodoni FLF"/>
                <a:sym typeface="Bodoni FLF"/>
              </a:rPr>
              <a:t>TWO KEY DAX FUNCTIONS PLAYED A MAJOR ROLE IN SHAPING THE DEPTH AND INTELLIGENCE OF OUR ANALYSIS, AND WE WILL HIGHLIGHT THEM IN THE UPCOMING SLIDES.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Freeform 3" id="3"/>
          <p:cNvSpPr/>
          <p:nvPr/>
        </p:nvSpPr>
        <p:spPr>
          <a:xfrm flipH="false" flipV="false" rot="-6033876">
            <a:off x="9501411" y="-3780525"/>
            <a:ext cx="6306778" cy="6306778"/>
          </a:xfrm>
          <a:custGeom>
            <a:avLst/>
            <a:gdLst/>
            <a:ahLst/>
            <a:cxnLst/>
            <a:rect r="r" b="b" t="t" l="l"/>
            <a:pathLst>
              <a:path h="6306778" w="6306778">
                <a:moveTo>
                  <a:pt x="0" y="0"/>
                </a:moveTo>
                <a:lnTo>
                  <a:pt x="6306778" y="0"/>
                </a:lnTo>
                <a:lnTo>
                  <a:pt x="6306778" y="6306778"/>
                </a:lnTo>
                <a:lnTo>
                  <a:pt x="0" y="6306778"/>
                </a:lnTo>
                <a:lnTo>
                  <a:pt x="0" y="0"/>
                </a:lnTo>
                <a:close/>
              </a:path>
            </a:pathLst>
          </a:custGeom>
          <a:blipFill>
            <a:blip r:embed="rId3"/>
            <a:stretch>
              <a:fillRect l="0" t="0" r="0" b="0"/>
            </a:stretch>
          </a:blipFill>
        </p:spPr>
      </p:sp>
      <p:sp>
        <p:nvSpPr>
          <p:cNvPr name="TextBox 4" id="4"/>
          <p:cNvSpPr txBox="true"/>
          <p:nvPr/>
        </p:nvSpPr>
        <p:spPr>
          <a:xfrm rot="0">
            <a:off x="4250417" y="836202"/>
            <a:ext cx="9452584" cy="1112386"/>
          </a:xfrm>
          <a:prstGeom prst="rect">
            <a:avLst/>
          </a:prstGeom>
        </p:spPr>
        <p:txBody>
          <a:bodyPr anchor="t" rtlCol="false" tIns="0" lIns="0" bIns="0" rIns="0">
            <a:spAutoFit/>
          </a:bodyPr>
          <a:lstStyle/>
          <a:p>
            <a:pPr algn="ctr">
              <a:lnSpc>
                <a:spcPts val="7587"/>
              </a:lnSpc>
            </a:pPr>
            <a:r>
              <a:rPr lang="en-US" sz="8621">
                <a:solidFill>
                  <a:srgbClr val="FFFFFF"/>
                </a:solidFill>
                <a:latin typeface="Bodoni FLF"/>
                <a:ea typeface="Bodoni FLF"/>
                <a:cs typeface="Bodoni FLF"/>
                <a:sym typeface="Bodoni FLF"/>
              </a:rPr>
              <a:t>DAX</a:t>
            </a:r>
            <a:r>
              <a:rPr lang="en-US" b="true" sz="8621">
                <a:solidFill>
                  <a:srgbClr val="FFFFFF"/>
                </a:solidFill>
                <a:latin typeface="Bodoni FLF"/>
                <a:ea typeface="Bodoni FLF"/>
                <a:cs typeface="Bodoni FLF"/>
                <a:sym typeface="Bodoni FLF"/>
              </a:rPr>
              <a:t> MEASURE “1”</a:t>
            </a:r>
          </a:p>
        </p:txBody>
      </p:sp>
      <p:sp>
        <p:nvSpPr>
          <p:cNvPr name="Freeform 5" id="5"/>
          <p:cNvSpPr/>
          <p:nvPr/>
        </p:nvSpPr>
        <p:spPr>
          <a:xfrm flipH="false" flipV="false" rot="760712">
            <a:off x="-3042792" y="401455"/>
            <a:ext cx="6306778" cy="6306778"/>
          </a:xfrm>
          <a:custGeom>
            <a:avLst/>
            <a:gdLst/>
            <a:ahLst/>
            <a:cxnLst/>
            <a:rect r="r" b="b" t="t" l="l"/>
            <a:pathLst>
              <a:path h="6306778" w="6306778">
                <a:moveTo>
                  <a:pt x="0" y="0"/>
                </a:moveTo>
                <a:lnTo>
                  <a:pt x="6306778" y="0"/>
                </a:lnTo>
                <a:lnTo>
                  <a:pt x="6306778" y="6306778"/>
                </a:lnTo>
                <a:lnTo>
                  <a:pt x="0" y="6306778"/>
                </a:lnTo>
                <a:lnTo>
                  <a:pt x="0" y="0"/>
                </a:lnTo>
                <a:close/>
              </a:path>
            </a:pathLst>
          </a:custGeom>
          <a:blipFill>
            <a:blip r:embed="rId3"/>
            <a:stretch>
              <a:fillRect l="0" t="0" r="0" b="0"/>
            </a:stretch>
          </a:blipFill>
        </p:spPr>
      </p:sp>
      <p:sp>
        <p:nvSpPr>
          <p:cNvPr name="TextBox 6" id="6"/>
          <p:cNvSpPr txBox="true"/>
          <p:nvPr/>
        </p:nvSpPr>
        <p:spPr>
          <a:xfrm rot="0">
            <a:off x="2957570" y="2886101"/>
            <a:ext cx="4670499" cy="6722803"/>
          </a:xfrm>
          <a:prstGeom prst="rect">
            <a:avLst/>
          </a:prstGeom>
        </p:spPr>
        <p:txBody>
          <a:bodyPr anchor="t" rtlCol="false" tIns="0" lIns="0" bIns="0" rIns="0">
            <a:spAutoFit/>
          </a:bodyPr>
          <a:lstStyle/>
          <a:p>
            <a:pPr algn="ctr">
              <a:lnSpc>
                <a:spcPts val="3843"/>
              </a:lnSpc>
              <a:spcBef>
                <a:spcPct val="0"/>
              </a:spcBef>
            </a:pPr>
            <a:r>
              <a:rPr lang="en-US" sz="2745">
                <a:solidFill>
                  <a:srgbClr val="FFFFFF"/>
                </a:solidFill>
                <a:latin typeface="Clear Sans"/>
                <a:ea typeface="Clear Sans"/>
                <a:cs typeface="Clear Sans"/>
                <a:sym typeface="Clear Sans"/>
              </a:rPr>
              <a:t>We needed a way to pinpoint the month with the highest unemployment rate in each year for every state, to identify unusual spikes caused by economic crises (ex: Covid 19).</a:t>
            </a:r>
          </a:p>
          <a:p>
            <a:pPr algn="ctr">
              <a:lnSpc>
                <a:spcPts val="3843"/>
              </a:lnSpc>
              <a:spcBef>
                <a:spcPct val="0"/>
              </a:spcBef>
            </a:pPr>
            <a:r>
              <a:rPr lang="en-US" sz="2745">
                <a:solidFill>
                  <a:srgbClr val="FFFFFF"/>
                </a:solidFill>
                <a:latin typeface="Clear Sans"/>
                <a:ea typeface="Clear Sans"/>
                <a:cs typeface="Clear Sans"/>
                <a:sym typeface="Clear Sans"/>
              </a:rPr>
              <a:t>This measure identifies which specific year is being analyzed and then focuses only on that year’s data, and sates the highest monthly unemployment rate of the year.</a:t>
            </a:r>
          </a:p>
        </p:txBody>
      </p:sp>
      <p:grpSp>
        <p:nvGrpSpPr>
          <p:cNvPr name="Group 7" id="7"/>
          <p:cNvGrpSpPr/>
          <p:nvPr/>
        </p:nvGrpSpPr>
        <p:grpSpPr>
          <a:xfrm rot="0">
            <a:off x="8195986" y="3383284"/>
            <a:ext cx="9741731" cy="5457857"/>
            <a:chOff x="0" y="0"/>
            <a:chExt cx="2490840" cy="1395507"/>
          </a:xfrm>
        </p:grpSpPr>
        <p:sp>
          <p:nvSpPr>
            <p:cNvPr name="Freeform 8" id="8"/>
            <p:cNvSpPr/>
            <p:nvPr/>
          </p:nvSpPr>
          <p:spPr>
            <a:xfrm flipH="false" flipV="false" rot="0">
              <a:off x="0" y="0"/>
              <a:ext cx="2490840" cy="1395507"/>
            </a:xfrm>
            <a:custGeom>
              <a:avLst/>
              <a:gdLst/>
              <a:ahLst/>
              <a:cxnLst/>
              <a:rect r="r" b="b" t="t" l="l"/>
              <a:pathLst>
                <a:path h="1395507" w="2490840">
                  <a:moveTo>
                    <a:pt x="16689" y="0"/>
                  </a:moveTo>
                  <a:lnTo>
                    <a:pt x="2474151" y="0"/>
                  </a:lnTo>
                  <a:cubicBezTo>
                    <a:pt x="2478577" y="0"/>
                    <a:pt x="2482822" y="1758"/>
                    <a:pt x="2485952" y="4888"/>
                  </a:cubicBezTo>
                  <a:cubicBezTo>
                    <a:pt x="2489082" y="8018"/>
                    <a:pt x="2490840" y="12263"/>
                    <a:pt x="2490840" y="16689"/>
                  </a:cubicBezTo>
                  <a:lnTo>
                    <a:pt x="2490840" y="1378818"/>
                  </a:lnTo>
                  <a:cubicBezTo>
                    <a:pt x="2490840" y="1383244"/>
                    <a:pt x="2489082" y="1387489"/>
                    <a:pt x="2485952" y="1390619"/>
                  </a:cubicBezTo>
                  <a:cubicBezTo>
                    <a:pt x="2482822" y="1393748"/>
                    <a:pt x="2478577" y="1395507"/>
                    <a:pt x="2474151" y="1395507"/>
                  </a:cubicBezTo>
                  <a:lnTo>
                    <a:pt x="16689" y="1395507"/>
                  </a:lnTo>
                  <a:cubicBezTo>
                    <a:pt x="12263" y="1395507"/>
                    <a:pt x="8018" y="1393748"/>
                    <a:pt x="4888" y="1390619"/>
                  </a:cubicBezTo>
                  <a:cubicBezTo>
                    <a:pt x="1758" y="1387489"/>
                    <a:pt x="0" y="1383244"/>
                    <a:pt x="0" y="1378818"/>
                  </a:cubicBezTo>
                  <a:lnTo>
                    <a:pt x="0" y="16689"/>
                  </a:lnTo>
                  <a:cubicBezTo>
                    <a:pt x="0" y="12263"/>
                    <a:pt x="1758" y="8018"/>
                    <a:pt x="4888" y="4888"/>
                  </a:cubicBezTo>
                  <a:cubicBezTo>
                    <a:pt x="8018" y="1758"/>
                    <a:pt x="12263" y="0"/>
                    <a:pt x="16689" y="0"/>
                  </a:cubicBezTo>
                  <a:close/>
                </a:path>
              </a:pathLst>
            </a:custGeom>
            <a:solidFill>
              <a:srgbClr val="463974"/>
            </a:solidFill>
          </p:spPr>
        </p:sp>
        <p:sp>
          <p:nvSpPr>
            <p:cNvPr name="TextBox 9" id="9"/>
            <p:cNvSpPr txBox="true"/>
            <p:nvPr/>
          </p:nvSpPr>
          <p:spPr>
            <a:xfrm>
              <a:off x="0" y="-28575"/>
              <a:ext cx="2490840" cy="1424082"/>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8471784" y="3554844"/>
            <a:ext cx="9190135" cy="4986895"/>
          </a:xfrm>
          <a:custGeom>
            <a:avLst/>
            <a:gdLst/>
            <a:ahLst/>
            <a:cxnLst/>
            <a:rect r="r" b="b" t="t" l="l"/>
            <a:pathLst>
              <a:path h="4986895" w="9190135">
                <a:moveTo>
                  <a:pt x="0" y="0"/>
                </a:moveTo>
                <a:lnTo>
                  <a:pt x="9190135" y="0"/>
                </a:lnTo>
                <a:lnTo>
                  <a:pt x="9190135" y="4986895"/>
                </a:lnTo>
                <a:lnTo>
                  <a:pt x="0" y="4986895"/>
                </a:lnTo>
                <a:lnTo>
                  <a:pt x="0" y="0"/>
                </a:lnTo>
                <a:close/>
              </a:path>
            </a:pathLst>
          </a:custGeom>
          <a:blipFill>
            <a:blip r:embed="rId4"/>
            <a:stretch>
              <a:fillRect l="0" t="0" r="0" b="0"/>
            </a:stretch>
          </a:blipFill>
          <a:ln w="19050" cap="sq">
            <a:solidFill>
              <a:srgbClr val="000000"/>
            </a:solid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5421401" y="175573"/>
            <a:ext cx="7691884" cy="1477653"/>
          </a:xfrm>
          <a:prstGeom prst="rect">
            <a:avLst/>
          </a:prstGeom>
        </p:spPr>
        <p:txBody>
          <a:bodyPr anchor="t" rtlCol="false" tIns="0" lIns="0" bIns="0" rIns="0">
            <a:spAutoFit/>
          </a:bodyPr>
          <a:lstStyle/>
          <a:p>
            <a:pPr algn="ctr">
              <a:lnSpc>
                <a:spcPts val="11479"/>
              </a:lnSpc>
              <a:spcBef>
                <a:spcPct val="0"/>
              </a:spcBef>
            </a:pPr>
            <a:r>
              <a:rPr lang="en-US" sz="8199">
                <a:solidFill>
                  <a:srgbClr val="FFFFFF"/>
                </a:solidFill>
                <a:latin typeface="Bodoni FLF"/>
                <a:ea typeface="Bodoni FLF"/>
                <a:cs typeface="Bodoni FLF"/>
                <a:sym typeface="Bodoni FLF"/>
              </a:rPr>
              <a:t>DAX Measure “2”</a:t>
            </a:r>
          </a:p>
        </p:txBody>
      </p:sp>
      <p:grpSp>
        <p:nvGrpSpPr>
          <p:cNvPr name="Group 4" id="4"/>
          <p:cNvGrpSpPr/>
          <p:nvPr/>
        </p:nvGrpSpPr>
        <p:grpSpPr>
          <a:xfrm rot="0">
            <a:off x="3648244" y="2430915"/>
            <a:ext cx="11238198" cy="6080907"/>
            <a:chOff x="0" y="0"/>
            <a:chExt cx="2579053" cy="1395507"/>
          </a:xfrm>
        </p:grpSpPr>
        <p:sp>
          <p:nvSpPr>
            <p:cNvPr name="Freeform 5" id="5"/>
            <p:cNvSpPr/>
            <p:nvPr/>
          </p:nvSpPr>
          <p:spPr>
            <a:xfrm flipH="false" flipV="false" rot="0">
              <a:off x="0" y="0"/>
              <a:ext cx="2579053" cy="1395507"/>
            </a:xfrm>
            <a:custGeom>
              <a:avLst/>
              <a:gdLst/>
              <a:ahLst/>
              <a:cxnLst/>
              <a:rect r="r" b="b" t="t" l="l"/>
              <a:pathLst>
                <a:path h="1395507" w="2579053">
                  <a:moveTo>
                    <a:pt x="14467" y="0"/>
                  </a:moveTo>
                  <a:lnTo>
                    <a:pt x="2564586" y="0"/>
                  </a:lnTo>
                  <a:cubicBezTo>
                    <a:pt x="2568423" y="0"/>
                    <a:pt x="2572102" y="1524"/>
                    <a:pt x="2574816" y="4237"/>
                  </a:cubicBezTo>
                  <a:cubicBezTo>
                    <a:pt x="2577529" y="6950"/>
                    <a:pt x="2579053" y="10630"/>
                    <a:pt x="2579053" y="14467"/>
                  </a:cubicBezTo>
                  <a:lnTo>
                    <a:pt x="2579053" y="1381040"/>
                  </a:lnTo>
                  <a:cubicBezTo>
                    <a:pt x="2579053" y="1389030"/>
                    <a:pt x="2572576" y="1395507"/>
                    <a:pt x="2564586" y="1395507"/>
                  </a:cubicBezTo>
                  <a:lnTo>
                    <a:pt x="14467" y="1395507"/>
                  </a:lnTo>
                  <a:cubicBezTo>
                    <a:pt x="10630" y="1395507"/>
                    <a:pt x="6950" y="1393982"/>
                    <a:pt x="4237" y="1391269"/>
                  </a:cubicBezTo>
                  <a:cubicBezTo>
                    <a:pt x="1524" y="1388556"/>
                    <a:pt x="0" y="1384877"/>
                    <a:pt x="0" y="1381040"/>
                  </a:cubicBezTo>
                  <a:lnTo>
                    <a:pt x="0" y="14467"/>
                  </a:lnTo>
                  <a:cubicBezTo>
                    <a:pt x="0" y="10630"/>
                    <a:pt x="1524" y="6950"/>
                    <a:pt x="4237" y="4237"/>
                  </a:cubicBezTo>
                  <a:cubicBezTo>
                    <a:pt x="6950" y="1524"/>
                    <a:pt x="10630" y="0"/>
                    <a:pt x="14467" y="0"/>
                  </a:cubicBezTo>
                  <a:close/>
                </a:path>
              </a:pathLst>
            </a:custGeom>
            <a:solidFill>
              <a:srgbClr val="463974"/>
            </a:solidFill>
          </p:spPr>
        </p:sp>
        <p:sp>
          <p:nvSpPr>
            <p:cNvPr name="TextBox 6" id="6"/>
            <p:cNvSpPr txBox="true"/>
            <p:nvPr/>
          </p:nvSpPr>
          <p:spPr>
            <a:xfrm>
              <a:off x="0" y="-28575"/>
              <a:ext cx="2579053" cy="142408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3963229" y="2738678"/>
            <a:ext cx="10608228" cy="5436918"/>
          </a:xfrm>
          <a:custGeom>
            <a:avLst/>
            <a:gdLst/>
            <a:ahLst/>
            <a:cxnLst/>
            <a:rect r="r" b="b" t="t" l="l"/>
            <a:pathLst>
              <a:path h="5436918" w="10608228">
                <a:moveTo>
                  <a:pt x="0" y="0"/>
                </a:moveTo>
                <a:lnTo>
                  <a:pt x="10608228" y="0"/>
                </a:lnTo>
                <a:lnTo>
                  <a:pt x="10608228" y="5436918"/>
                </a:lnTo>
                <a:lnTo>
                  <a:pt x="0" y="5436918"/>
                </a:lnTo>
                <a:lnTo>
                  <a:pt x="0" y="0"/>
                </a:lnTo>
                <a:close/>
              </a:path>
            </a:pathLst>
          </a:custGeom>
          <a:blipFill>
            <a:blip r:embed="rId3"/>
            <a:stretch>
              <a:fillRect l="0" t="-235" r="-2987" b="-235"/>
            </a:stretch>
          </a:blipFill>
        </p:spPr>
      </p:sp>
      <p:sp>
        <p:nvSpPr>
          <p:cNvPr name="Freeform 8" id="8"/>
          <p:cNvSpPr/>
          <p:nvPr/>
        </p:nvSpPr>
        <p:spPr>
          <a:xfrm flipH="false" flipV="false" rot="760712">
            <a:off x="-3042792" y="401455"/>
            <a:ext cx="6306778" cy="6306778"/>
          </a:xfrm>
          <a:custGeom>
            <a:avLst/>
            <a:gdLst/>
            <a:ahLst/>
            <a:cxnLst/>
            <a:rect r="r" b="b" t="t" l="l"/>
            <a:pathLst>
              <a:path h="6306778" w="6306778">
                <a:moveTo>
                  <a:pt x="0" y="0"/>
                </a:moveTo>
                <a:lnTo>
                  <a:pt x="6306778" y="0"/>
                </a:lnTo>
                <a:lnTo>
                  <a:pt x="6306778" y="6306778"/>
                </a:lnTo>
                <a:lnTo>
                  <a:pt x="0" y="6306778"/>
                </a:lnTo>
                <a:lnTo>
                  <a:pt x="0" y="0"/>
                </a:lnTo>
                <a:close/>
              </a:path>
            </a:pathLst>
          </a:custGeom>
          <a:blipFill>
            <a:blip r:embed="rId4"/>
            <a:stretch>
              <a:fillRect l="0" t="0" r="0" b="0"/>
            </a:stretch>
          </a:blipFill>
        </p:spPr>
      </p:sp>
      <p:sp>
        <p:nvSpPr>
          <p:cNvPr name="Freeform 9" id="9"/>
          <p:cNvSpPr/>
          <p:nvPr/>
        </p:nvSpPr>
        <p:spPr>
          <a:xfrm flipH="false" flipV="false" rot="-6033876">
            <a:off x="11100962" y="-3670752"/>
            <a:ext cx="6306778" cy="6306778"/>
          </a:xfrm>
          <a:custGeom>
            <a:avLst/>
            <a:gdLst/>
            <a:ahLst/>
            <a:cxnLst/>
            <a:rect r="r" b="b" t="t" l="l"/>
            <a:pathLst>
              <a:path h="6306778" w="6306778">
                <a:moveTo>
                  <a:pt x="0" y="0"/>
                </a:moveTo>
                <a:lnTo>
                  <a:pt x="6306777" y="0"/>
                </a:lnTo>
                <a:lnTo>
                  <a:pt x="6306777" y="6306778"/>
                </a:lnTo>
                <a:lnTo>
                  <a:pt x="0" y="6306778"/>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Freeform 3" id="3"/>
          <p:cNvSpPr/>
          <p:nvPr/>
        </p:nvSpPr>
        <p:spPr>
          <a:xfrm flipH="false" flipV="false" rot="4099925">
            <a:off x="1595105" y="7136768"/>
            <a:ext cx="8119561" cy="8119561"/>
          </a:xfrm>
          <a:custGeom>
            <a:avLst/>
            <a:gdLst/>
            <a:ahLst/>
            <a:cxnLst/>
            <a:rect r="r" b="b" t="t" l="l"/>
            <a:pathLst>
              <a:path h="8119561" w="8119561">
                <a:moveTo>
                  <a:pt x="0" y="0"/>
                </a:moveTo>
                <a:lnTo>
                  <a:pt x="8119561" y="0"/>
                </a:lnTo>
                <a:lnTo>
                  <a:pt x="8119561" y="8119561"/>
                </a:lnTo>
                <a:lnTo>
                  <a:pt x="0" y="8119561"/>
                </a:lnTo>
                <a:lnTo>
                  <a:pt x="0" y="0"/>
                </a:lnTo>
                <a:close/>
              </a:path>
            </a:pathLst>
          </a:custGeom>
          <a:blipFill>
            <a:blip r:embed="rId3"/>
            <a:stretch>
              <a:fillRect l="0" t="0" r="0" b="0"/>
            </a:stretch>
          </a:blipFill>
        </p:spPr>
      </p:sp>
      <p:sp>
        <p:nvSpPr>
          <p:cNvPr name="TextBox 4" id="4"/>
          <p:cNvSpPr txBox="true"/>
          <p:nvPr/>
        </p:nvSpPr>
        <p:spPr>
          <a:xfrm rot="0">
            <a:off x="5298058" y="271646"/>
            <a:ext cx="7691884" cy="1477653"/>
          </a:xfrm>
          <a:prstGeom prst="rect">
            <a:avLst/>
          </a:prstGeom>
        </p:spPr>
        <p:txBody>
          <a:bodyPr anchor="t" rtlCol="false" tIns="0" lIns="0" bIns="0" rIns="0">
            <a:spAutoFit/>
          </a:bodyPr>
          <a:lstStyle/>
          <a:p>
            <a:pPr algn="ctr">
              <a:lnSpc>
                <a:spcPts val="11479"/>
              </a:lnSpc>
              <a:spcBef>
                <a:spcPct val="0"/>
              </a:spcBef>
            </a:pPr>
            <a:r>
              <a:rPr lang="en-US" sz="8199">
                <a:solidFill>
                  <a:srgbClr val="FFFFFF"/>
                </a:solidFill>
                <a:latin typeface="Bodoni FLF"/>
                <a:ea typeface="Bodoni FLF"/>
                <a:cs typeface="Bodoni FLF"/>
                <a:sym typeface="Bodoni FLF"/>
              </a:rPr>
              <a:t>DAX Measure “2”</a:t>
            </a:r>
          </a:p>
        </p:txBody>
      </p:sp>
      <p:grpSp>
        <p:nvGrpSpPr>
          <p:cNvPr name="Group 5" id="5"/>
          <p:cNvGrpSpPr/>
          <p:nvPr/>
        </p:nvGrpSpPr>
        <p:grpSpPr>
          <a:xfrm rot="0">
            <a:off x="6910072" y="2666143"/>
            <a:ext cx="10752060" cy="5641815"/>
            <a:chOff x="0" y="0"/>
            <a:chExt cx="2467489" cy="1294739"/>
          </a:xfrm>
        </p:grpSpPr>
        <p:sp>
          <p:nvSpPr>
            <p:cNvPr name="Freeform 6" id="6"/>
            <p:cNvSpPr/>
            <p:nvPr/>
          </p:nvSpPr>
          <p:spPr>
            <a:xfrm flipH="false" flipV="false" rot="0">
              <a:off x="0" y="0"/>
              <a:ext cx="2467489" cy="1294739"/>
            </a:xfrm>
            <a:custGeom>
              <a:avLst/>
              <a:gdLst/>
              <a:ahLst/>
              <a:cxnLst/>
              <a:rect r="r" b="b" t="t" l="l"/>
              <a:pathLst>
                <a:path h="1294739" w="2467489">
                  <a:moveTo>
                    <a:pt x="15121" y="0"/>
                  </a:moveTo>
                  <a:lnTo>
                    <a:pt x="2452368" y="0"/>
                  </a:lnTo>
                  <a:cubicBezTo>
                    <a:pt x="2456378" y="0"/>
                    <a:pt x="2460224" y="1593"/>
                    <a:pt x="2463060" y="4429"/>
                  </a:cubicBezTo>
                  <a:cubicBezTo>
                    <a:pt x="2465896" y="7265"/>
                    <a:pt x="2467489" y="11111"/>
                    <a:pt x="2467489" y="15121"/>
                  </a:cubicBezTo>
                  <a:lnTo>
                    <a:pt x="2467489" y="1279619"/>
                  </a:lnTo>
                  <a:cubicBezTo>
                    <a:pt x="2467489" y="1283629"/>
                    <a:pt x="2465896" y="1287475"/>
                    <a:pt x="2463060" y="1290311"/>
                  </a:cubicBezTo>
                  <a:cubicBezTo>
                    <a:pt x="2460224" y="1293146"/>
                    <a:pt x="2456378" y="1294739"/>
                    <a:pt x="2452368" y="1294739"/>
                  </a:cubicBezTo>
                  <a:lnTo>
                    <a:pt x="15121" y="1294739"/>
                  </a:lnTo>
                  <a:cubicBezTo>
                    <a:pt x="11111" y="1294739"/>
                    <a:pt x="7265" y="1293146"/>
                    <a:pt x="4429" y="1290311"/>
                  </a:cubicBezTo>
                  <a:cubicBezTo>
                    <a:pt x="1593" y="1287475"/>
                    <a:pt x="0" y="1283629"/>
                    <a:pt x="0" y="1279619"/>
                  </a:cubicBezTo>
                  <a:lnTo>
                    <a:pt x="0" y="15121"/>
                  </a:lnTo>
                  <a:cubicBezTo>
                    <a:pt x="0" y="11111"/>
                    <a:pt x="1593" y="7265"/>
                    <a:pt x="4429" y="4429"/>
                  </a:cubicBezTo>
                  <a:cubicBezTo>
                    <a:pt x="7265" y="1593"/>
                    <a:pt x="11111" y="0"/>
                    <a:pt x="15121" y="0"/>
                  </a:cubicBezTo>
                  <a:close/>
                </a:path>
              </a:pathLst>
            </a:custGeom>
            <a:solidFill>
              <a:srgbClr val="463974"/>
            </a:solidFill>
          </p:spPr>
        </p:sp>
        <p:sp>
          <p:nvSpPr>
            <p:cNvPr name="TextBox 7" id="7"/>
            <p:cNvSpPr txBox="true"/>
            <p:nvPr/>
          </p:nvSpPr>
          <p:spPr>
            <a:xfrm>
              <a:off x="0" y="-28575"/>
              <a:ext cx="2467489" cy="1323314"/>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28709" y="2311485"/>
            <a:ext cx="5037770" cy="611822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lear Sans"/>
                <a:ea typeface="Clear Sans"/>
                <a:cs typeface="Clear Sans"/>
                <a:sym typeface="Clear Sans"/>
              </a:rPr>
              <a:t>This measure adapts its calculation based on the user’s selection of labor categories. If no status is selected, it returns the total number of people across: employed, unemployed, and outside the labor force. When the user selects specific statuses, the measure only sums the counts for those chosen categories. This allows the dashboard to respond intelligently to filters and show exactly the labor count the user wants to analyze.</a:t>
            </a:r>
          </a:p>
        </p:txBody>
      </p:sp>
      <p:sp>
        <p:nvSpPr>
          <p:cNvPr name="Freeform 9" id="9"/>
          <p:cNvSpPr/>
          <p:nvPr/>
        </p:nvSpPr>
        <p:spPr>
          <a:xfrm flipH="false" flipV="false" rot="0">
            <a:off x="7200813" y="2950478"/>
            <a:ext cx="10170578" cy="5073144"/>
          </a:xfrm>
          <a:custGeom>
            <a:avLst/>
            <a:gdLst/>
            <a:ahLst/>
            <a:cxnLst/>
            <a:rect r="r" b="b" t="t" l="l"/>
            <a:pathLst>
              <a:path h="5073144" w="10170578">
                <a:moveTo>
                  <a:pt x="0" y="0"/>
                </a:moveTo>
                <a:lnTo>
                  <a:pt x="10170579" y="0"/>
                </a:lnTo>
                <a:lnTo>
                  <a:pt x="10170579" y="5073144"/>
                </a:lnTo>
                <a:lnTo>
                  <a:pt x="0" y="5073144"/>
                </a:lnTo>
                <a:lnTo>
                  <a:pt x="0" y="0"/>
                </a:lnTo>
                <a:close/>
              </a:path>
            </a:pathLst>
          </a:custGeom>
          <a:blipFill>
            <a:blip r:embed="rId4"/>
            <a:stretch>
              <a:fillRect l="0" t="0" r="-1825"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Freeform 3" id="3"/>
          <p:cNvSpPr/>
          <p:nvPr/>
        </p:nvSpPr>
        <p:spPr>
          <a:xfrm flipH="false" flipV="false" rot="-6033876">
            <a:off x="14917816" y="-616917"/>
            <a:ext cx="6306778" cy="6306778"/>
          </a:xfrm>
          <a:custGeom>
            <a:avLst/>
            <a:gdLst/>
            <a:ahLst/>
            <a:cxnLst/>
            <a:rect r="r" b="b" t="t" l="l"/>
            <a:pathLst>
              <a:path h="6306778" w="6306778">
                <a:moveTo>
                  <a:pt x="0" y="0"/>
                </a:moveTo>
                <a:lnTo>
                  <a:pt x="6306777" y="0"/>
                </a:lnTo>
                <a:lnTo>
                  <a:pt x="6306777" y="6306777"/>
                </a:lnTo>
                <a:lnTo>
                  <a:pt x="0" y="6306777"/>
                </a:lnTo>
                <a:lnTo>
                  <a:pt x="0" y="0"/>
                </a:lnTo>
                <a:close/>
              </a:path>
            </a:pathLst>
          </a:custGeom>
          <a:blipFill>
            <a:blip r:embed="rId3"/>
            <a:stretch>
              <a:fillRect l="0" t="0" r="0" b="0"/>
            </a:stretch>
          </a:blipFill>
        </p:spPr>
      </p:sp>
      <p:sp>
        <p:nvSpPr>
          <p:cNvPr name="Freeform 4" id="4"/>
          <p:cNvSpPr/>
          <p:nvPr/>
        </p:nvSpPr>
        <p:spPr>
          <a:xfrm flipH="false" flipV="false" rot="8100000">
            <a:off x="-2485449" y="8102929"/>
            <a:ext cx="8088433" cy="7987328"/>
          </a:xfrm>
          <a:custGeom>
            <a:avLst/>
            <a:gdLst/>
            <a:ahLst/>
            <a:cxnLst/>
            <a:rect r="r" b="b" t="t" l="l"/>
            <a:pathLst>
              <a:path h="7987328" w="8088433">
                <a:moveTo>
                  <a:pt x="0" y="0"/>
                </a:moveTo>
                <a:lnTo>
                  <a:pt x="8088433" y="0"/>
                </a:lnTo>
                <a:lnTo>
                  <a:pt x="8088433" y="7987328"/>
                </a:lnTo>
                <a:lnTo>
                  <a:pt x="0" y="7987328"/>
                </a:lnTo>
                <a:lnTo>
                  <a:pt x="0" y="0"/>
                </a:lnTo>
                <a:close/>
              </a:path>
            </a:pathLst>
          </a:custGeom>
          <a:blipFill>
            <a:blip r:embed="rId4"/>
            <a:stretch>
              <a:fillRect l="0" t="0" r="0" b="0"/>
            </a:stretch>
          </a:blipFill>
        </p:spPr>
      </p:sp>
      <p:sp>
        <p:nvSpPr>
          <p:cNvPr name="TextBox 5" id="5"/>
          <p:cNvSpPr txBox="true"/>
          <p:nvPr/>
        </p:nvSpPr>
        <p:spPr>
          <a:xfrm rot="0">
            <a:off x="3232733" y="4393191"/>
            <a:ext cx="3886370" cy="2905125"/>
          </a:xfrm>
          <a:prstGeom prst="rect">
            <a:avLst/>
          </a:prstGeom>
        </p:spPr>
        <p:txBody>
          <a:bodyPr anchor="t" rtlCol="false" tIns="0" lIns="0" bIns="0" rIns="0">
            <a:spAutoFit/>
          </a:bodyPr>
          <a:lstStyle/>
          <a:p>
            <a:pPr algn="l" marL="0" indent="0" lvl="0">
              <a:lnSpc>
                <a:spcPts val="3899"/>
              </a:lnSpc>
              <a:spcBef>
                <a:spcPct val="0"/>
              </a:spcBef>
            </a:pPr>
            <a:r>
              <a:rPr lang="en-US" b="true" sz="2999">
                <a:solidFill>
                  <a:srgbClr val="FFFFFF"/>
                </a:solidFill>
                <a:latin typeface="TT Drugs Bold"/>
                <a:ea typeface="TT Drugs Bold"/>
                <a:cs typeface="TT Drugs Bold"/>
                <a:sym typeface="TT Drugs Bold"/>
              </a:rPr>
              <a:t>Here you can find the resources from where we collected tha main data sets we worked on for this project:</a:t>
            </a:r>
          </a:p>
        </p:txBody>
      </p:sp>
      <p:sp>
        <p:nvSpPr>
          <p:cNvPr name="TextBox 6" id="6"/>
          <p:cNvSpPr txBox="true"/>
          <p:nvPr/>
        </p:nvSpPr>
        <p:spPr>
          <a:xfrm rot="0">
            <a:off x="3232733" y="1679745"/>
            <a:ext cx="5059131" cy="1304925"/>
          </a:xfrm>
          <a:prstGeom prst="rect">
            <a:avLst/>
          </a:prstGeom>
        </p:spPr>
        <p:txBody>
          <a:bodyPr anchor="t" rtlCol="false" tIns="0" lIns="0" bIns="0" rIns="0">
            <a:spAutoFit/>
          </a:bodyPr>
          <a:lstStyle/>
          <a:p>
            <a:pPr algn="l">
              <a:lnSpc>
                <a:spcPts val="9719"/>
              </a:lnSpc>
            </a:pPr>
            <a:r>
              <a:rPr lang="en-US" sz="8099">
                <a:solidFill>
                  <a:srgbClr val="FFFFFF"/>
                </a:solidFill>
                <a:latin typeface="Bodoni FLF"/>
                <a:ea typeface="Bodoni FLF"/>
                <a:cs typeface="Bodoni FLF"/>
                <a:sym typeface="Bodoni FLF"/>
              </a:rPr>
              <a:t>Data</a:t>
            </a:r>
          </a:p>
        </p:txBody>
      </p:sp>
      <p:sp>
        <p:nvSpPr>
          <p:cNvPr name="TextBox 7" id="7"/>
          <p:cNvSpPr txBox="true"/>
          <p:nvPr/>
        </p:nvSpPr>
        <p:spPr>
          <a:xfrm rot="0">
            <a:off x="3232733" y="2669219"/>
            <a:ext cx="5059131" cy="1304925"/>
          </a:xfrm>
          <a:prstGeom prst="rect">
            <a:avLst/>
          </a:prstGeom>
        </p:spPr>
        <p:txBody>
          <a:bodyPr anchor="t" rtlCol="false" tIns="0" lIns="0" bIns="0" rIns="0">
            <a:spAutoFit/>
          </a:bodyPr>
          <a:lstStyle/>
          <a:p>
            <a:pPr algn="l">
              <a:lnSpc>
                <a:spcPts val="9719"/>
              </a:lnSpc>
            </a:pPr>
            <a:r>
              <a:rPr lang="en-US" sz="8099">
                <a:solidFill>
                  <a:srgbClr val="FFFFFF"/>
                </a:solidFill>
                <a:latin typeface="Bodoni FLF"/>
                <a:ea typeface="Bodoni FLF"/>
                <a:cs typeface="Bodoni FLF"/>
                <a:sym typeface="Bodoni FLF"/>
              </a:rPr>
              <a:t>Resources</a:t>
            </a:r>
          </a:p>
        </p:txBody>
      </p:sp>
      <p:graphicFrame>
        <p:nvGraphicFramePr>
          <p:cNvPr name="Table 8" id="8"/>
          <p:cNvGraphicFramePr>
            <a:graphicFrameLocks noGrp="true"/>
          </p:cNvGraphicFramePr>
          <p:nvPr/>
        </p:nvGraphicFramePr>
        <p:xfrm>
          <a:off x="8051508" y="3100947"/>
          <a:ext cx="8695030" cy="3531511"/>
        </p:xfrm>
        <a:graphic>
          <a:graphicData uri="http://schemas.openxmlformats.org/drawingml/2006/table">
            <a:tbl>
              <a:tblPr/>
              <a:tblGrid>
                <a:gridCol w="4335841"/>
                <a:gridCol w="4359189"/>
              </a:tblGrid>
              <a:tr h="1814090">
                <a:tc gridSpan="2">
                  <a:txBody>
                    <a:bodyPr anchor="t" rtlCol="false"/>
                    <a:lstStyle/>
                    <a:p>
                      <a:pPr algn="ctr">
                        <a:lnSpc>
                          <a:spcPts val="4009"/>
                        </a:lnSpc>
                        <a:defRPr/>
                      </a:pPr>
                      <a:r>
                        <a:rPr lang="en-US" sz="2863">
                          <a:solidFill>
                            <a:srgbClr val="000000"/>
                          </a:solidFill>
                          <a:latin typeface="TT Drugs"/>
                          <a:ea typeface="TT Drugs"/>
                          <a:cs typeface="TT Drugs"/>
                          <a:sym typeface="TT Drugs"/>
                        </a:rPr>
                        <a:t>All </a:t>
                      </a:r>
                      <a:r>
                        <a:rPr lang="en-US" sz="2863" u="sng">
                          <a:solidFill>
                            <a:srgbClr val="000000"/>
                          </a:solidFill>
                          <a:latin typeface="TT Drugs"/>
                          <a:ea typeface="TT Drugs"/>
                          <a:cs typeface="TT Drugs"/>
                          <a:sym typeface="TT Drugs"/>
                          <a:hlinkClick r:id="rId5" tooltip="https://www.bls.gov/cps/"/>
                        </a:rPr>
                        <a:t>Labor Force Statistics</a:t>
                      </a:r>
                      <a:endParaRPr lang="en-US" sz="1100"/>
                    </a:p>
                  </a:txBody>
                  <a:tcPr marL="181854" marR="181854" marT="181854" marB="181854" anchor="ctr">
                    <a:lnL cmpd="sng" algn="ctr" cap="flat" w="9093">
                      <a:solidFill>
                        <a:srgbClr val="000000"/>
                      </a:solidFill>
                      <a:prstDash val="solid"/>
                      <a:round/>
                      <a:headEnd type="none" w="med" len="med"/>
                      <a:tailEnd type="none" w="med" len="med"/>
                    </a:lnL>
                    <a:lnR cmpd="sng" algn="ctr" cap="flat" w="9093">
                      <a:solidFill>
                        <a:srgbClr val="000000"/>
                      </a:solidFill>
                      <a:prstDash val="solid"/>
                      <a:round/>
                      <a:headEnd type="none" w="med" len="med"/>
                      <a:tailEnd type="none" w="med" len="med"/>
                    </a:lnR>
                    <a:lnT cmpd="sng" algn="ctr" cap="flat" w="9093">
                      <a:solidFill>
                        <a:srgbClr val="FFFFFF"/>
                      </a:solidFill>
                      <a:prstDash val="solid"/>
                      <a:round/>
                      <a:headEnd type="none" w="med" len="med"/>
                      <a:tailEnd type="none" w="med" len="med"/>
                    </a:lnT>
                    <a:lnB cmpd="sng" algn="ctr" cap="flat" w="9093">
                      <a:solidFill>
                        <a:srgbClr val="000000"/>
                      </a:solidFill>
                      <a:prstDash val="solid"/>
                      <a:round/>
                      <a:headEnd type="none" w="med" len="med"/>
                      <a:tailEnd type="none" w="med" len="med"/>
                    </a:lnB>
                    <a:solidFill>
                      <a:srgbClr val="D2B0E9"/>
                    </a:solidFill>
                  </a:tcPr>
                </a:tc>
                <a:tc hMerge="true">
                  <a:txBody>
                    <a:bodyPr anchor="t" rtlCol="false"/>
                    <a:lstStyle/>
                    <a:p>
                      <a:pPr algn="ctr">
                        <a:lnSpc>
                          <a:spcPts val="4009"/>
                        </a:lnSpc>
                        <a:defRPr/>
                      </a:pPr>
                      <a:r>
                        <a:rPr lang="en-US" sz="2863">
                          <a:solidFill>
                            <a:srgbClr val="000000"/>
                          </a:solidFill>
                          <a:latin typeface="TT Drugs"/>
                          <a:ea typeface="TT Drugs"/>
                          <a:cs typeface="TT Drugs"/>
                          <a:sym typeface="TT Drugs"/>
                        </a:rPr>
                        <a:t>All </a:t>
                      </a:r>
                      <a:r>
                        <a:rPr lang="en-US" sz="2863" u="sng">
                          <a:solidFill>
                            <a:srgbClr val="000000"/>
                          </a:solidFill>
                          <a:latin typeface="TT Drugs"/>
                          <a:ea typeface="TT Drugs"/>
                          <a:cs typeface="TT Drugs"/>
                          <a:sym typeface="TT Drugs"/>
                          <a:hlinkClick r:id="rId6" tooltip="https://www.bls.gov/cps/"/>
                        </a:rPr>
                        <a:t>Labor Force Statistics</a:t>
                      </a:r>
                      <a:endParaRPr lang="en-US" sz="1100"/>
                    </a:p>
                  </a:txBody>
                  <a:tcPr marL="181854" marR="181854" marT="181854" marB="181854" anchor="ctr">
                    <a:lnL cmpd="sng" algn="ctr" cap="flat" w="9093">
                      <a:solidFill>
                        <a:srgbClr val="000000"/>
                      </a:solidFill>
                      <a:prstDash val="solid"/>
                      <a:round/>
                      <a:headEnd type="none" w="med" len="med"/>
                      <a:tailEnd type="none" w="med" len="med"/>
                    </a:lnL>
                    <a:lnR cmpd="sng" algn="ctr" cap="flat" w="9093">
                      <a:solidFill>
                        <a:srgbClr val="000000"/>
                      </a:solidFill>
                      <a:prstDash val="solid"/>
                      <a:round/>
                      <a:headEnd type="none" w="med" len="med"/>
                      <a:tailEnd type="none" w="med" len="med"/>
                    </a:lnR>
                    <a:lnT cmpd="sng" algn="ctr" cap="flat" w="9093">
                      <a:solidFill>
                        <a:srgbClr val="FFFFFF"/>
                      </a:solidFill>
                      <a:prstDash val="solid"/>
                      <a:round/>
                      <a:headEnd type="none" w="med" len="med"/>
                      <a:tailEnd type="none" w="med" len="med"/>
                    </a:lnT>
                    <a:lnB cmpd="sng" algn="ctr" cap="flat" w="9093">
                      <a:solidFill>
                        <a:srgbClr val="000000"/>
                      </a:solidFill>
                      <a:prstDash val="solid"/>
                      <a:round/>
                      <a:headEnd type="none" w="med" len="med"/>
                      <a:tailEnd type="none" w="med" len="med"/>
                    </a:lnB>
                    <a:solidFill>
                      <a:srgbClr val="D2B0E9"/>
                    </a:solidFill>
                  </a:tcPr>
                </a:tc>
              </a:tr>
              <a:tr h="1717420">
                <a:tc gridSpan="2">
                  <a:txBody>
                    <a:bodyPr anchor="t" rtlCol="false"/>
                    <a:lstStyle/>
                    <a:p>
                      <a:pPr algn="ctr">
                        <a:lnSpc>
                          <a:spcPts val="4009"/>
                        </a:lnSpc>
                        <a:defRPr/>
                      </a:pPr>
                      <a:r>
                        <a:rPr lang="en-US" sz="2863" u="sng">
                          <a:solidFill>
                            <a:srgbClr val="000000"/>
                          </a:solidFill>
                          <a:latin typeface="TT Drugs"/>
                          <a:ea typeface="TT Drugs"/>
                          <a:cs typeface="TT Drugs"/>
                          <a:sym typeface="TT Drugs"/>
                          <a:hlinkClick r:id="rId7" tooltip="https://data.worldbank.org/country/united-states"/>
                        </a:rPr>
                        <a:t>Accuracy Data Checking</a:t>
                      </a:r>
                      <a:endParaRPr lang="en-US" sz="1100"/>
                    </a:p>
                  </a:txBody>
                  <a:tcPr marL="181854" marR="181854" marT="181854" marB="181854" anchor="ctr">
                    <a:lnL cmpd="sng" algn="ctr" cap="flat" w="9093">
                      <a:solidFill>
                        <a:srgbClr val="000000"/>
                      </a:solidFill>
                      <a:prstDash val="solid"/>
                      <a:round/>
                      <a:headEnd type="none" w="med" len="med"/>
                      <a:tailEnd type="none" w="med" len="med"/>
                    </a:lnL>
                    <a:lnR cmpd="sng" algn="ctr" cap="flat" w="9093">
                      <a:solidFill>
                        <a:srgbClr val="000000"/>
                      </a:solidFill>
                      <a:prstDash val="solid"/>
                      <a:round/>
                      <a:headEnd type="none" w="med" len="med"/>
                      <a:tailEnd type="none" w="med" len="med"/>
                    </a:lnR>
                    <a:lnT cmpd="sng" algn="ctr" cap="flat" w="9093">
                      <a:solidFill>
                        <a:srgbClr val="000000"/>
                      </a:solidFill>
                      <a:prstDash val="solid"/>
                      <a:round/>
                      <a:headEnd type="none" w="med" len="med"/>
                      <a:tailEnd type="none" w="med" len="med"/>
                    </a:lnT>
                    <a:lnB cmpd="sng" algn="ctr" cap="flat" w="9093">
                      <a:solidFill>
                        <a:srgbClr val="000000"/>
                      </a:solidFill>
                      <a:prstDash val="solid"/>
                      <a:round/>
                      <a:headEnd type="none" w="med" len="med"/>
                      <a:tailEnd type="none" w="med" len="med"/>
                    </a:lnB>
                    <a:solidFill>
                      <a:srgbClr val="D2B0E9"/>
                    </a:solidFill>
                  </a:tcPr>
                </a:tc>
                <a:tc hMerge="true">
                  <a:txBody>
                    <a:bodyPr anchor="t" rtlCol="false"/>
                    <a:lstStyle/>
                    <a:p>
                      <a:pPr algn="ctr">
                        <a:lnSpc>
                          <a:spcPts val="4009"/>
                        </a:lnSpc>
                        <a:defRPr/>
                      </a:pPr>
                      <a:r>
                        <a:rPr lang="en-US" sz="2863" u="sng">
                          <a:solidFill>
                            <a:srgbClr val="000000"/>
                          </a:solidFill>
                          <a:latin typeface="TT Drugs"/>
                          <a:ea typeface="TT Drugs"/>
                          <a:cs typeface="TT Drugs"/>
                          <a:sym typeface="TT Drugs"/>
                          <a:hlinkClick r:id="rId8" tooltip="https://data.worldbank.org/country/united-states"/>
                        </a:rPr>
                        <a:t>Accuracy Data Checking</a:t>
                      </a:r>
                      <a:endParaRPr lang="en-US" sz="1100"/>
                    </a:p>
                  </a:txBody>
                  <a:tcPr marL="181854" marR="181854" marT="181854" marB="181854" anchor="ctr">
                    <a:lnL cmpd="sng" algn="ctr" cap="flat" w="9093">
                      <a:solidFill>
                        <a:srgbClr val="000000"/>
                      </a:solidFill>
                      <a:prstDash val="solid"/>
                      <a:round/>
                      <a:headEnd type="none" w="med" len="med"/>
                      <a:tailEnd type="none" w="med" len="med"/>
                    </a:lnL>
                    <a:lnR cmpd="sng" algn="ctr" cap="flat" w="9093">
                      <a:solidFill>
                        <a:srgbClr val="000000"/>
                      </a:solidFill>
                      <a:prstDash val="solid"/>
                      <a:round/>
                      <a:headEnd type="none" w="med" len="med"/>
                      <a:tailEnd type="none" w="med" len="med"/>
                    </a:lnR>
                    <a:lnT cmpd="sng" algn="ctr" cap="flat" w="9093">
                      <a:solidFill>
                        <a:srgbClr val="000000"/>
                      </a:solidFill>
                      <a:prstDash val="solid"/>
                      <a:round/>
                      <a:headEnd type="none" w="med" len="med"/>
                      <a:tailEnd type="none" w="med" len="med"/>
                    </a:lnT>
                    <a:lnB cmpd="sng" algn="ctr" cap="flat" w="9093">
                      <a:solidFill>
                        <a:srgbClr val="000000"/>
                      </a:solidFill>
                      <a:prstDash val="solid"/>
                      <a:round/>
                      <a:headEnd type="none" w="med" len="med"/>
                      <a:tailEnd type="none" w="med" len="med"/>
                    </a:lnB>
                    <a:solidFill>
                      <a:srgbClr val="D2B0E9"/>
                    </a:solidFill>
                  </a:tcPr>
                </a:tc>
              </a:tr>
            </a:tbl>
          </a:graphicData>
        </a:graphic>
      </p:graphicFrame>
      <p:sp>
        <p:nvSpPr>
          <p:cNvPr name="Freeform 9" id="9"/>
          <p:cNvSpPr/>
          <p:nvPr/>
        </p:nvSpPr>
        <p:spPr>
          <a:xfrm flipH="false" flipV="false" rot="0">
            <a:off x="7709085" y="6845155"/>
            <a:ext cx="684846" cy="684846"/>
          </a:xfrm>
          <a:custGeom>
            <a:avLst/>
            <a:gdLst/>
            <a:ahLst/>
            <a:cxnLst/>
            <a:rect r="r" b="b" t="t" l="l"/>
            <a:pathLst>
              <a:path h="684846" w="684846">
                <a:moveTo>
                  <a:pt x="0" y="0"/>
                </a:moveTo>
                <a:lnTo>
                  <a:pt x="684846" y="0"/>
                </a:lnTo>
                <a:lnTo>
                  <a:pt x="684846" y="684846"/>
                </a:lnTo>
                <a:lnTo>
                  <a:pt x="0" y="6848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7666" r="0" b="-7666"/>
            </a:stretch>
          </a:blipFill>
        </p:spPr>
      </p:sp>
      <p:sp>
        <p:nvSpPr>
          <p:cNvPr name="TextBox 3" id="3"/>
          <p:cNvSpPr txBox="true"/>
          <p:nvPr/>
        </p:nvSpPr>
        <p:spPr>
          <a:xfrm rot="0">
            <a:off x="1467093" y="2120308"/>
            <a:ext cx="9813429" cy="4774537"/>
          </a:xfrm>
          <a:prstGeom prst="rect">
            <a:avLst/>
          </a:prstGeom>
        </p:spPr>
        <p:txBody>
          <a:bodyPr anchor="t" rtlCol="false" tIns="0" lIns="0" bIns="0" rIns="0">
            <a:spAutoFit/>
          </a:bodyPr>
          <a:lstStyle/>
          <a:p>
            <a:pPr algn="l">
              <a:lnSpc>
                <a:spcPts val="12223"/>
              </a:lnSpc>
            </a:pPr>
            <a:r>
              <a:rPr lang="en-US" sz="13889">
                <a:solidFill>
                  <a:srgbClr val="FFFFFF"/>
                </a:solidFill>
                <a:latin typeface="Anton"/>
                <a:ea typeface="Anton"/>
                <a:cs typeface="Anton"/>
                <a:sym typeface="Anton"/>
              </a:rPr>
              <a:t>THANK YOU FOR YOUR ATTENTION</a:t>
            </a:r>
          </a:p>
        </p:txBody>
      </p:sp>
      <p:sp>
        <p:nvSpPr>
          <p:cNvPr name="TextBox 4" id="4"/>
          <p:cNvSpPr txBox="true"/>
          <p:nvPr/>
        </p:nvSpPr>
        <p:spPr>
          <a:xfrm rot="0">
            <a:off x="1571194" y="1323255"/>
            <a:ext cx="5523118" cy="377953"/>
          </a:xfrm>
          <a:prstGeom prst="rect">
            <a:avLst/>
          </a:prstGeom>
        </p:spPr>
        <p:txBody>
          <a:bodyPr anchor="t" rtlCol="false" tIns="0" lIns="0" bIns="0" rIns="0">
            <a:spAutoFit/>
          </a:bodyPr>
          <a:lstStyle/>
          <a:p>
            <a:pPr algn="l">
              <a:lnSpc>
                <a:spcPts val="2202"/>
              </a:lnSpc>
            </a:pPr>
            <a:r>
              <a:rPr lang="en-US" sz="2503">
                <a:solidFill>
                  <a:srgbClr val="F5F4EB"/>
                </a:solidFill>
                <a:latin typeface="Agrandir"/>
                <a:ea typeface="Agrandir"/>
                <a:cs typeface="Agrandir"/>
                <a:sym typeface="Agrandir"/>
              </a:rPr>
              <a:t>DEPI </a:t>
            </a:r>
          </a:p>
        </p:txBody>
      </p:sp>
      <p:sp>
        <p:nvSpPr>
          <p:cNvPr name="Freeform 5" id="5"/>
          <p:cNvSpPr/>
          <p:nvPr/>
        </p:nvSpPr>
        <p:spPr>
          <a:xfrm flipH="false" flipV="false" rot="0">
            <a:off x="10360164" y="1028700"/>
            <a:ext cx="9663056" cy="7054031"/>
          </a:xfrm>
          <a:custGeom>
            <a:avLst/>
            <a:gdLst/>
            <a:ahLst/>
            <a:cxnLst/>
            <a:rect r="r" b="b" t="t" l="l"/>
            <a:pathLst>
              <a:path h="7054031" w="9663056">
                <a:moveTo>
                  <a:pt x="0" y="0"/>
                </a:moveTo>
                <a:lnTo>
                  <a:pt x="9663055" y="0"/>
                </a:lnTo>
                <a:lnTo>
                  <a:pt x="9663055" y="7054031"/>
                </a:lnTo>
                <a:lnTo>
                  <a:pt x="0" y="7054031"/>
                </a:lnTo>
                <a:lnTo>
                  <a:pt x="0" y="0"/>
                </a:lnTo>
                <a:close/>
              </a:path>
            </a:pathLst>
          </a:custGeom>
          <a:blipFill>
            <a:blip r:embed="rId3"/>
            <a:stretch>
              <a:fillRect l="0" t="0" r="0" b="0"/>
            </a:stretch>
          </a:blipFill>
        </p:spPr>
      </p:sp>
      <p:sp>
        <p:nvSpPr>
          <p:cNvPr name="Freeform 6" id="6"/>
          <p:cNvSpPr/>
          <p:nvPr/>
        </p:nvSpPr>
        <p:spPr>
          <a:xfrm flipH="false" flipV="false" rot="-8789420">
            <a:off x="-3015517" y="6293336"/>
            <a:ext cx="8088433" cy="7987328"/>
          </a:xfrm>
          <a:custGeom>
            <a:avLst/>
            <a:gdLst/>
            <a:ahLst/>
            <a:cxnLst/>
            <a:rect r="r" b="b" t="t" l="l"/>
            <a:pathLst>
              <a:path h="7987328" w="8088433">
                <a:moveTo>
                  <a:pt x="0" y="0"/>
                </a:moveTo>
                <a:lnTo>
                  <a:pt x="8088434" y="0"/>
                </a:lnTo>
                <a:lnTo>
                  <a:pt x="8088434" y="7987328"/>
                </a:lnTo>
                <a:lnTo>
                  <a:pt x="0" y="7987328"/>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DAG6Hx0ETqs</dc:identifier>
  <dcterms:modified xsi:type="dcterms:W3CDTF">2011-08-01T06:04:30Z</dcterms:modified>
  <cp:revision>1</cp:revision>
  <dc:title>Blue and White Gradient Modern Project Presentation</dc:title>
</cp:coreProperties>
</file>